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8138160" y="365760"/>
            <a:ext cx="3474720" cy="3474720"/>
          </a:xfrm>
          <a:prstGeom prst="arc">
            <a:avLst/>
          </a:prstGeom>
          <a:noFill/>
          <a:ln w="38100">
            <a:solidFill>
              <a:srgbClr val="00C2FF">
                <a:alpha val="80000"/>
              </a:srgbClr>
            </a:solidFill>
            <a:prstDash val="solid"/>
          </a:ln>
        </p:spPr>
      </p:sp>
      <p:sp>
        <p:nvSpPr>
          <p:cNvPr id="3" name="Shape 1"/>
          <p:cNvSpPr/>
          <p:nvPr/>
        </p:nvSpPr>
        <p:spPr>
          <a:xfrm>
            <a:off x="8732520" y="960120"/>
            <a:ext cx="2286000" cy="2286000"/>
          </a:xfrm>
          <a:prstGeom prst="arc">
            <a:avLst/>
          </a:prstGeom>
          <a:noFill/>
          <a:ln w="12700">
            <a:solidFill>
              <a:srgbClr val="FFFFFF">
                <a:alpha val="40000"/>
              </a:srgbClr>
            </a:solidFill>
            <a:prstDash val="solid"/>
          </a:ln>
        </p:spPr>
      </p:sp>
      <p:sp>
        <p:nvSpPr>
          <p:cNvPr id="4" name="Text 2"/>
          <p:cNvSpPr/>
          <p:nvPr/>
        </p:nvSpPr>
        <p:spPr>
          <a:xfrm>
            <a:off x="658368" y="1417320"/>
            <a:ext cx="7680960" cy="530352"/>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Calibri" pitchFamily="34" charset="0"/>
                <a:ea typeface="Calibri" pitchFamily="34" charset="-122"/>
                <a:cs typeface="Calibri" pitchFamily="34" charset="-120"/>
              </a:rPr>
              <a:t>FACE RECOGNITION SYSTEM</a:t>
            </a:r>
            <a:endParaRPr lang="en-US" sz="4000" dirty="0"/>
          </a:p>
        </p:txBody>
      </p:sp>
      <p:sp>
        <p:nvSpPr>
          <p:cNvPr id="5" name="Text 3"/>
          <p:cNvSpPr/>
          <p:nvPr/>
        </p:nvSpPr>
        <p:spPr>
          <a:xfrm>
            <a:off x="685800" y="2084832"/>
            <a:ext cx="7040880" cy="347472"/>
          </a:xfrm>
          <a:prstGeom prst="rect">
            <a:avLst/>
          </a:prstGeom>
          <a:noFill/>
          <a:ln/>
        </p:spPr>
        <p:txBody>
          <a:bodyPr wrap="square" lIns="0" tIns="0" rIns="0" bIns="0" rtlCol="0" anchor="ctr"/>
          <a:lstStyle/>
          <a:p>
            <a:pPr indent="0" marL="0">
              <a:buNone/>
            </a:pPr>
            <a:r>
              <a:rPr lang="en-US" sz="1800" dirty="0">
                <a:solidFill>
                  <a:srgbClr val="B9D7EA"/>
                </a:solidFill>
                <a:latin typeface="Calibri" pitchFamily="34" charset="0"/>
                <a:ea typeface="Calibri" pitchFamily="34" charset="-122"/>
                <a:cs typeface="Calibri" pitchFamily="34" charset="-120"/>
              </a:rPr>
              <a:t>Local edge AI for real-time identity verification</a:t>
            </a:r>
            <a:endParaRPr lang="en-US" sz="1800" dirty="0"/>
          </a:p>
        </p:txBody>
      </p:sp>
      <p:sp>
        <p:nvSpPr>
          <p:cNvPr id="6" name="Text 4"/>
          <p:cNvSpPr/>
          <p:nvPr/>
        </p:nvSpPr>
        <p:spPr>
          <a:xfrm>
            <a:off x="685800" y="5349240"/>
            <a:ext cx="36576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Team: Smart Hire AI</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Date: 27 May 2026</a:t>
            </a:r>
            <a:endParaRPr lang="en-US" sz="1400" dirty="0"/>
          </a:p>
        </p:txBody>
      </p:sp>
      <p:sp>
        <p:nvSpPr>
          <p:cNvPr id="7" name="Text 5"/>
          <p:cNvSpPr/>
          <p:nvPr/>
        </p:nvSpPr>
        <p:spPr>
          <a:xfrm>
            <a:off x="7726680" y="4343400"/>
            <a:ext cx="3383280" cy="685800"/>
          </a:xfrm>
          <a:prstGeom prst="rect">
            <a:avLst/>
          </a:prstGeom>
          <a:noFill/>
          <a:ln/>
        </p:spPr>
        <p:txBody>
          <a:bodyPr wrap="square" lIns="0" tIns="0" rIns="0" bIns="0" rtlCol="0" anchor="ctr">
            <a:normAutofit/>
          </a:bodyPr>
          <a:lstStyle/>
          <a:p>
            <a:pPr algn="ctr" indent="0" marL="0">
              <a:buNone/>
            </a:pPr>
            <a:r>
              <a:rPr lang="en-US" sz="6000" b="1" dirty="0">
                <a:solidFill>
                  <a:srgbClr val="00C2FF"/>
                </a:solidFill>
                <a:latin typeface="Calibri" pitchFamily="34" charset="0"/>
                <a:ea typeface="Calibri" pitchFamily="34" charset="-122"/>
                <a:cs typeface="Calibri" pitchFamily="34" charset="-120"/>
              </a:rPr>
              <a:t>LOCAL</a:t>
            </a:r>
            <a:endParaRPr lang="en-US" sz="6000" dirty="0"/>
          </a:p>
        </p:txBody>
      </p:sp>
      <p:sp>
        <p:nvSpPr>
          <p:cNvPr id="8" name="Text 6"/>
          <p:cNvSpPr/>
          <p:nvPr/>
        </p:nvSpPr>
        <p:spPr>
          <a:xfrm>
            <a:off x="7726680" y="5056632"/>
            <a:ext cx="338328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Tkinter + OpenCV + MediaPipe</a:t>
            </a:r>
            <a:endParaRPr lang="en-US" sz="1400" dirty="0"/>
          </a:p>
        </p:txBody>
      </p:sp>
      <p:sp>
        <p:nvSpPr>
          <p:cNvPr id="9" name="Text 7"/>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AFC4D4"/>
                </a:solidFill>
                <a:latin typeface="Calibri" pitchFamily="34" charset="0"/>
                <a:ea typeface="Calibri" pitchFamily="34" charset="-122"/>
                <a:cs typeface="Calibri" pitchFamily="34" charset="-120"/>
              </a:rPr>
              <a:t>Smart Hire AI Face Recognition | 1/14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Problem Statement</a:t>
            </a:r>
            <a:endParaRPr lang="en-US" sz="3600" dirty="0"/>
          </a:p>
        </p:txBody>
      </p:sp>
      <p:sp>
        <p:nvSpPr>
          <p:cNvPr id="3" name="Shape 1"/>
          <p:cNvSpPr/>
          <p:nvPr/>
        </p:nvSpPr>
        <p:spPr>
          <a:xfrm>
            <a:off x="685800" y="1143000"/>
            <a:ext cx="3383280" cy="1828800"/>
          </a:xfrm>
          <a:prstGeom prst="roundRect">
            <a:avLst>
              <a:gd name="adj" fmla="val 4000"/>
            </a:avLst>
          </a:prstGeom>
          <a:solidFill>
            <a:srgbClr val="F4F7FA"/>
          </a:solidFill>
          <a:ln w="12700">
            <a:solidFill>
              <a:srgbClr val="BFD7E3">
                <a:alpha val="80000"/>
              </a:srgbClr>
            </a:solidFill>
            <a:prstDash val="solid"/>
          </a:ln>
        </p:spPr>
      </p:sp>
      <p:sp>
        <p:nvSpPr>
          <p:cNvPr id="4" name="Text 2"/>
          <p:cNvSpPr/>
          <p:nvPr/>
        </p:nvSpPr>
        <p:spPr>
          <a:xfrm>
            <a:off x="850392" y="1289304"/>
            <a:ext cx="30540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Identity fraud</a:t>
            </a:r>
            <a:endParaRPr lang="en-US" sz="1500" dirty="0"/>
          </a:p>
        </p:txBody>
      </p:sp>
      <p:sp>
        <p:nvSpPr>
          <p:cNvPr id="5" name="Text 3"/>
          <p:cNvSpPr/>
          <p:nvPr/>
        </p:nvSpPr>
        <p:spPr>
          <a:xfrm>
            <a:off x="850392" y="1618488"/>
            <a:ext cx="3054096" cy="123444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Manual attendance or verification can be bypassed when identity is not checked live.</a:t>
            </a:r>
            <a:endParaRPr lang="en-US" sz="1200" dirty="0"/>
          </a:p>
        </p:txBody>
      </p:sp>
      <p:sp>
        <p:nvSpPr>
          <p:cNvPr id="6" name="Shape 4"/>
          <p:cNvSpPr/>
          <p:nvPr/>
        </p:nvSpPr>
        <p:spPr>
          <a:xfrm>
            <a:off x="4407408" y="1143000"/>
            <a:ext cx="3383280" cy="1828800"/>
          </a:xfrm>
          <a:prstGeom prst="roundRect">
            <a:avLst>
              <a:gd name="adj" fmla="val 4000"/>
            </a:avLst>
          </a:prstGeom>
          <a:solidFill>
            <a:srgbClr val="F4F7FA"/>
          </a:solidFill>
          <a:ln w="12700">
            <a:solidFill>
              <a:srgbClr val="BFD7E3">
                <a:alpha val="80000"/>
              </a:srgbClr>
            </a:solidFill>
            <a:prstDash val="solid"/>
          </a:ln>
        </p:spPr>
      </p:sp>
      <p:sp>
        <p:nvSpPr>
          <p:cNvPr id="7" name="Text 5"/>
          <p:cNvSpPr/>
          <p:nvPr/>
        </p:nvSpPr>
        <p:spPr>
          <a:xfrm>
            <a:off x="4572000" y="1289304"/>
            <a:ext cx="30540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Connectivity gaps</a:t>
            </a:r>
            <a:endParaRPr lang="en-US" sz="1500" dirty="0"/>
          </a:p>
        </p:txBody>
      </p:sp>
      <p:sp>
        <p:nvSpPr>
          <p:cNvPr id="8" name="Text 6"/>
          <p:cNvSpPr/>
          <p:nvPr/>
        </p:nvSpPr>
        <p:spPr>
          <a:xfrm>
            <a:off x="4572000" y="1618488"/>
            <a:ext cx="3054096" cy="123444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The scanned codebase is local-first: webcam, models, and matching run on the desktop.</a:t>
            </a:r>
            <a:endParaRPr lang="en-US" sz="1200" dirty="0"/>
          </a:p>
        </p:txBody>
      </p:sp>
      <p:sp>
        <p:nvSpPr>
          <p:cNvPr id="9" name="Shape 7"/>
          <p:cNvSpPr/>
          <p:nvPr/>
        </p:nvSpPr>
        <p:spPr>
          <a:xfrm>
            <a:off x="8138160" y="1143000"/>
            <a:ext cx="3383280" cy="1828800"/>
          </a:xfrm>
          <a:prstGeom prst="roundRect">
            <a:avLst>
              <a:gd name="adj" fmla="val 4000"/>
            </a:avLst>
          </a:prstGeom>
          <a:solidFill>
            <a:srgbClr val="F4F7FA"/>
          </a:solidFill>
          <a:ln w="12700">
            <a:solidFill>
              <a:srgbClr val="BFD7E3">
                <a:alpha val="80000"/>
              </a:srgbClr>
            </a:solidFill>
            <a:prstDash val="solid"/>
          </a:ln>
        </p:spPr>
      </p:sp>
      <p:sp>
        <p:nvSpPr>
          <p:cNvPr id="10" name="Text 8"/>
          <p:cNvSpPr/>
          <p:nvPr/>
        </p:nvSpPr>
        <p:spPr>
          <a:xfrm>
            <a:off x="8302752" y="1289304"/>
            <a:ext cx="30540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Spoof risk</a:t>
            </a:r>
            <a:endParaRPr lang="en-US" sz="1500" dirty="0"/>
          </a:p>
        </p:txBody>
      </p:sp>
      <p:sp>
        <p:nvSpPr>
          <p:cNvPr id="11" name="Text 9"/>
          <p:cNvSpPr/>
          <p:nvPr/>
        </p:nvSpPr>
        <p:spPr>
          <a:xfrm>
            <a:off x="8302752" y="1618488"/>
            <a:ext cx="3054096" cy="123444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The app requires a blink before match labels are trusted, reducing static photo attempts.</a:t>
            </a:r>
            <a:endParaRPr lang="en-US" sz="1200" dirty="0"/>
          </a:p>
        </p:txBody>
      </p:sp>
      <p:sp>
        <p:nvSpPr>
          <p:cNvPr id="12" name="Text 10"/>
          <p:cNvSpPr/>
          <p:nvPr/>
        </p:nvSpPr>
        <p:spPr>
          <a:xfrm>
            <a:off x="868680" y="3886200"/>
            <a:ext cx="292608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640x480</a:t>
            </a:r>
            <a:endParaRPr lang="en-US" sz="6000" dirty="0"/>
          </a:p>
        </p:txBody>
      </p:sp>
      <p:sp>
        <p:nvSpPr>
          <p:cNvPr id="13" name="Text 11"/>
          <p:cNvSpPr/>
          <p:nvPr/>
        </p:nvSpPr>
        <p:spPr>
          <a:xfrm>
            <a:off x="868680" y="4599432"/>
            <a:ext cx="292608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configured camera capture</a:t>
            </a:r>
            <a:endParaRPr lang="en-US" sz="1400" dirty="0"/>
          </a:p>
        </p:txBody>
      </p:sp>
      <p:sp>
        <p:nvSpPr>
          <p:cNvPr id="14" name="Text 12"/>
          <p:cNvSpPr/>
          <p:nvPr/>
        </p:nvSpPr>
        <p:spPr>
          <a:xfrm>
            <a:off x="4617720" y="3886200"/>
            <a:ext cx="237744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5</a:t>
            </a:r>
            <a:endParaRPr lang="en-US" sz="6000" dirty="0"/>
          </a:p>
        </p:txBody>
      </p:sp>
      <p:sp>
        <p:nvSpPr>
          <p:cNvPr id="15" name="Text 13"/>
          <p:cNvSpPr/>
          <p:nvPr/>
        </p:nvSpPr>
        <p:spPr>
          <a:xfrm>
            <a:off x="4617720" y="4599432"/>
            <a:ext cx="237744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frame compare interval</a:t>
            </a:r>
            <a:endParaRPr lang="en-US" sz="1400" dirty="0"/>
          </a:p>
        </p:txBody>
      </p:sp>
      <p:sp>
        <p:nvSpPr>
          <p:cNvPr id="16" name="Text 14"/>
          <p:cNvSpPr/>
          <p:nvPr/>
        </p:nvSpPr>
        <p:spPr>
          <a:xfrm>
            <a:off x="8321040" y="3886200"/>
            <a:ext cx="237744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0.5</a:t>
            </a:r>
            <a:endParaRPr lang="en-US" sz="6000" dirty="0"/>
          </a:p>
        </p:txBody>
      </p:sp>
      <p:sp>
        <p:nvSpPr>
          <p:cNvPr id="17" name="Text 15"/>
          <p:cNvSpPr/>
          <p:nvPr/>
        </p:nvSpPr>
        <p:spPr>
          <a:xfrm>
            <a:off x="8321040" y="4599432"/>
            <a:ext cx="237744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detection confidence</a:t>
            </a:r>
            <a:endParaRPr lang="en-US" sz="1400" dirty="0"/>
          </a:p>
        </p:txBody>
      </p:sp>
      <p:sp>
        <p:nvSpPr>
          <p:cNvPr id="18" name="Shape 16"/>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19" name="Text 17"/>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actual desktop code</a:t>
            </a:r>
            <a:endParaRPr lang="en-US" sz="1000" dirty="0"/>
          </a:p>
        </p:txBody>
      </p:sp>
      <p:sp>
        <p:nvSpPr>
          <p:cNvPr id="20" name="Text 18"/>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2/14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Solution Overview</a:t>
            </a:r>
            <a:endParaRPr lang="en-US" sz="3600" dirty="0"/>
          </a:p>
        </p:txBody>
      </p:sp>
      <p:sp>
        <p:nvSpPr>
          <p:cNvPr id="3" name="Shape 1"/>
          <p:cNvSpPr/>
          <p:nvPr/>
        </p:nvSpPr>
        <p:spPr>
          <a:xfrm>
            <a:off x="822960" y="1828800"/>
            <a:ext cx="2103120" cy="914400"/>
          </a:xfrm>
          <a:prstGeom prst="chevron">
            <a:avLst/>
          </a:prstGeom>
          <a:solidFill>
            <a:srgbClr val="EAF7FC"/>
          </a:solidFill>
          <a:ln w="12700">
            <a:solidFill>
              <a:srgbClr val="BFD7E3"/>
            </a:solidFill>
            <a:prstDash val="solid"/>
          </a:ln>
        </p:spPr>
      </p:sp>
      <p:sp>
        <p:nvSpPr>
          <p:cNvPr id="4" name="Text 2"/>
          <p:cNvSpPr/>
          <p:nvPr/>
        </p:nvSpPr>
        <p:spPr>
          <a:xfrm>
            <a:off x="1005840" y="2029968"/>
            <a:ext cx="1600200" cy="420624"/>
          </a:xfrm>
          <a:prstGeom prst="rect">
            <a:avLst/>
          </a:prstGeom>
          <a:noFill/>
          <a:ln/>
        </p:spPr>
        <p:txBody>
          <a:bodyPr wrap="square" lIns="0" tIns="0" rIns="0" bIns="0" rtlCol="0" anchor="ctr"/>
          <a:lstStyle/>
          <a:p>
            <a:pPr algn="ctr" indent="0" marL="0">
              <a:buNone/>
            </a:pPr>
            <a:r>
              <a:rPr lang="en-US" sz="1700" b="1" dirty="0">
                <a:solidFill>
                  <a:srgbClr val="0D1B2A"/>
                </a:solidFill>
                <a:latin typeface="Calibri" pitchFamily="34" charset="0"/>
                <a:ea typeface="Calibri" pitchFamily="34" charset="-122"/>
                <a:cs typeface="Calibri" pitchFamily="34" charset="-120"/>
              </a:rPr>
              <a:t>Load</a:t>
            </a:r>
            <a:endParaRPr lang="en-US" sz="1700" dirty="0"/>
          </a:p>
          <a:p>
            <a:pPr algn="ctr" indent="0" marL="0">
              <a:buNone/>
            </a:pPr>
            <a:r>
              <a:rPr lang="en-US" sz="1700" b="1" dirty="0">
                <a:solidFill>
                  <a:srgbClr val="0D1B2A"/>
                </a:solidFill>
                <a:latin typeface="Calibri" pitchFamily="34" charset="0"/>
                <a:ea typeface="Calibri" pitchFamily="34" charset="-122"/>
                <a:cs typeface="Calibri" pitchFamily="34" charset="-120"/>
              </a:rPr>
              <a:t>Reference</a:t>
            </a:r>
            <a:endParaRPr lang="en-US" sz="1700" dirty="0"/>
          </a:p>
        </p:txBody>
      </p:sp>
      <p:sp>
        <p:nvSpPr>
          <p:cNvPr id="5" name="Shape 3"/>
          <p:cNvSpPr/>
          <p:nvPr/>
        </p:nvSpPr>
        <p:spPr>
          <a:xfrm>
            <a:off x="3337560" y="1828800"/>
            <a:ext cx="2103120" cy="914400"/>
          </a:xfrm>
          <a:prstGeom prst="chevron">
            <a:avLst/>
          </a:prstGeom>
          <a:solidFill>
            <a:srgbClr val="EAF7FC"/>
          </a:solidFill>
          <a:ln w="12700">
            <a:solidFill>
              <a:srgbClr val="BFD7E3"/>
            </a:solidFill>
            <a:prstDash val="solid"/>
          </a:ln>
        </p:spPr>
      </p:sp>
      <p:sp>
        <p:nvSpPr>
          <p:cNvPr id="6" name="Text 4"/>
          <p:cNvSpPr/>
          <p:nvPr/>
        </p:nvSpPr>
        <p:spPr>
          <a:xfrm>
            <a:off x="3547872" y="2029968"/>
            <a:ext cx="1600200" cy="420624"/>
          </a:xfrm>
          <a:prstGeom prst="rect">
            <a:avLst/>
          </a:prstGeom>
          <a:noFill/>
          <a:ln/>
        </p:spPr>
        <p:txBody>
          <a:bodyPr wrap="square" lIns="0" tIns="0" rIns="0" bIns="0" rtlCol="0" anchor="ctr"/>
          <a:lstStyle/>
          <a:p>
            <a:pPr algn="ctr" indent="0" marL="0">
              <a:buNone/>
            </a:pPr>
            <a:r>
              <a:rPr lang="en-US" sz="1700" b="1" dirty="0">
                <a:solidFill>
                  <a:srgbClr val="0D1B2A"/>
                </a:solidFill>
                <a:latin typeface="Calibri" pitchFamily="34" charset="0"/>
                <a:ea typeface="Calibri" pitchFamily="34" charset="-122"/>
                <a:cs typeface="Calibri" pitchFamily="34" charset="-120"/>
              </a:rPr>
              <a:t>Detect</a:t>
            </a:r>
            <a:endParaRPr lang="en-US" sz="1700" dirty="0"/>
          </a:p>
          <a:p>
            <a:pPr algn="ctr" indent="0" marL="0">
              <a:buNone/>
            </a:pPr>
            <a:r>
              <a:rPr lang="en-US" sz="1700" b="1" dirty="0">
                <a:solidFill>
                  <a:srgbClr val="0D1B2A"/>
                </a:solidFill>
                <a:latin typeface="Calibri" pitchFamily="34" charset="0"/>
                <a:ea typeface="Calibri" pitchFamily="34" charset="-122"/>
                <a:cs typeface="Calibri" pitchFamily="34" charset="-120"/>
              </a:rPr>
              <a:t>Face</a:t>
            </a:r>
            <a:endParaRPr lang="en-US" sz="1700" dirty="0"/>
          </a:p>
        </p:txBody>
      </p:sp>
      <p:sp>
        <p:nvSpPr>
          <p:cNvPr id="7" name="Shape 5"/>
          <p:cNvSpPr/>
          <p:nvPr/>
        </p:nvSpPr>
        <p:spPr>
          <a:xfrm>
            <a:off x="5852160" y="1828800"/>
            <a:ext cx="2103120" cy="914400"/>
          </a:xfrm>
          <a:prstGeom prst="chevron">
            <a:avLst/>
          </a:prstGeom>
          <a:solidFill>
            <a:srgbClr val="EAF7FC"/>
          </a:solidFill>
          <a:ln w="12700">
            <a:solidFill>
              <a:srgbClr val="BFD7E3"/>
            </a:solidFill>
            <a:prstDash val="solid"/>
          </a:ln>
        </p:spPr>
      </p:sp>
      <p:sp>
        <p:nvSpPr>
          <p:cNvPr id="8" name="Text 6"/>
          <p:cNvSpPr/>
          <p:nvPr/>
        </p:nvSpPr>
        <p:spPr>
          <a:xfrm>
            <a:off x="6053328" y="2029968"/>
            <a:ext cx="1600200" cy="420624"/>
          </a:xfrm>
          <a:prstGeom prst="rect">
            <a:avLst/>
          </a:prstGeom>
          <a:noFill/>
          <a:ln/>
        </p:spPr>
        <p:txBody>
          <a:bodyPr wrap="square" lIns="0" tIns="0" rIns="0" bIns="0" rtlCol="0" anchor="ctr"/>
          <a:lstStyle/>
          <a:p>
            <a:pPr algn="ctr" indent="0" marL="0">
              <a:buNone/>
            </a:pPr>
            <a:r>
              <a:rPr lang="en-US" sz="1700" b="1" dirty="0">
                <a:solidFill>
                  <a:srgbClr val="0D1B2A"/>
                </a:solidFill>
                <a:latin typeface="Calibri" pitchFamily="34" charset="0"/>
                <a:ea typeface="Calibri" pitchFamily="34" charset="-122"/>
                <a:cs typeface="Calibri" pitchFamily="34" charset="-120"/>
              </a:rPr>
              <a:t>Blink</a:t>
            </a:r>
            <a:endParaRPr lang="en-US" sz="1700" dirty="0"/>
          </a:p>
          <a:p>
            <a:pPr algn="ctr" indent="0" marL="0">
              <a:buNone/>
            </a:pPr>
            <a:r>
              <a:rPr lang="en-US" sz="1700" b="1" dirty="0">
                <a:solidFill>
                  <a:srgbClr val="0D1B2A"/>
                </a:solidFill>
                <a:latin typeface="Calibri" pitchFamily="34" charset="0"/>
                <a:ea typeface="Calibri" pitchFamily="34" charset="-122"/>
                <a:cs typeface="Calibri" pitchFamily="34" charset="-120"/>
              </a:rPr>
              <a:t>Liveness</a:t>
            </a:r>
            <a:endParaRPr lang="en-US" sz="1700" dirty="0"/>
          </a:p>
        </p:txBody>
      </p:sp>
      <p:sp>
        <p:nvSpPr>
          <p:cNvPr id="9" name="Shape 7"/>
          <p:cNvSpPr/>
          <p:nvPr/>
        </p:nvSpPr>
        <p:spPr>
          <a:xfrm>
            <a:off x="8366760" y="1828800"/>
            <a:ext cx="2103120" cy="914400"/>
          </a:xfrm>
          <a:prstGeom prst="chevron">
            <a:avLst/>
          </a:prstGeom>
          <a:solidFill>
            <a:srgbClr val="EAF7FC"/>
          </a:solidFill>
          <a:ln w="12700">
            <a:solidFill>
              <a:srgbClr val="BFD7E3"/>
            </a:solidFill>
            <a:prstDash val="solid"/>
          </a:ln>
        </p:spPr>
      </p:sp>
      <p:sp>
        <p:nvSpPr>
          <p:cNvPr id="10" name="Text 8"/>
          <p:cNvSpPr/>
          <p:nvPr/>
        </p:nvSpPr>
        <p:spPr>
          <a:xfrm>
            <a:off x="8567928" y="2029968"/>
            <a:ext cx="1600200" cy="420624"/>
          </a:xfrm>
          <a:prstGeom prst="rect">
            <a:avLst/>
          </a:prstGeom>
          <a:noFill/>
          <a:ln/>
        </p:spPr>
        <p:txBody>
          <a:bodyPr wrap="square" lIns="0" tIns="0" rIns="0" bIns="0" rtlCol="0" anchor="ctr"/>
          <a:lstStyle/>
          <a:p>
            <a:pPr algn="ctr" indent="0" marL="0">
              <a:buNone/>
            </a:pPr>
            <a:r>
              <a:rPr lang="en-US" sz="1700" b="1" dirty="0">
                <a:solidFill>
                  <a:srgbClr val="0D1B2A"/>
                </a:solidFill>
                <a:latin typeface="Calibri" pitchFamily="34" charset="0"/>
                <a:ea typeface="Calibri" pitchFamily="34" charset="-122"/>
                <a:cs typeface="Calibri" pitchFamily="34" charset="-120"/>
              </a:rPr>
              <a:t>Cosine</a:t>
            </a:r>
            <a:endParaRPr lang="en-US" sz="1700" dirty="0"/>
          </a:p>
          <a:p>
            <a:pPr algn="ctr" indent="0" marL="0">
              <a:buNone/>
            </a:pPr>
            <a:r>
              <a:rPr lang="en-US" sz="1700" b="1" dirty="0">
                <a:solidFill>
                  <a:srgbClr val="0D1B2A"/>
                </a:solidFill>
                <a:latin typeface="Calibri" pitchFamily="34" charset="0"/>
                <a:ea typeface="Calibri" pitchFamily="34" charset="-122"/>
                <a:cs typeface="Calibri" pitchFamily="34" charset="-120"/>
              </a:rPr>
              <a:t>Match</a:t>
            </a:r>
            <a:endParaRPr lang="en-US" sz="1700" dirty="0"/>
          </a:p>
        </p:txBody>
      </p:sp>
      <p:sp>
        <p:nvSpPr>
          <p:cNvPr id="11" name="Text 9"/>
          <p:cNvSpPr/>
          <p:nvPr/>
        </p:nvSpPr>
        <p:spPr>
          <a:xfrm>
            <a:off x="1005840" y="3840480"/>
            <a:ext cx="9875520" cy="914400"/>
          </a:xfrm>
          <a:prstGeom prst="rect">
            <a:avLst/>
          </a:prstGeom>
          <a:noFill/>
          <a:ln/>
        </p:spPr>
        <p:txBody>
          <a:bodyPr wrap="square" lIns="635" tIns="635" rIns="635" bIns="635" rtlCol="0" anchor="ctr">
            <a:normAutofit/>
          </a:bodyPr>
          <a:lstStyle/>
          <a:p>
            <a:r>
              <a:rPr lang="en-US" sz="1600" dirty="0">
                <a:solidFill>
                  <a:srgbClr val="172033"/>
                </a:solidFill>
                <a:latin typeface="Calibri" pitchFamily="34" charset="0"/>
                <a:ea typeface="Calibri" pitchFamily="34" charset="-122"/>
                <a:cs typeface="Calibri" pitchFamily="34" charset="-120"/>
              </a:rPr>
              <a:t>Actual project is a Python desktop app, not React Native.</a:t>
            </a:r>
            <a:endParaRPr lang="en-US" sz="1600" dirty="0"/>
          </a:p>
          <a:p>
            <a:r>
              <a:rPr lang="en-US" sz="1600" dirty="0">
                <a:solidFill>
                  <a:srgbClr val="172033"/>
                </a:solidFill>
                <a:latin typeface="Calibri" pitchFamily="34" charset="0"/>
                <a:ea typeface="Calibri" pitchFamily="34" charset="-122"/>
                <a:cs typeface="Calibri" pitchFamily="34" charset="-120"/>
              </a:rPr>
              <a:t>Models are downloaded or loaded locally from the app folder.</a:t>
            </a:r>
            <a:endParaRPr lang="en-US" sz="1600" dirty="0"/>
          </a:p>
          <a:p>
            <a:r>
              <a:rPr lang="en-US" sz="1600" dirty="0">
                <a:solidFill>
                  <a:srgbClr val="172033"/>
                </a:solidFill>
                <a:latin typeface="Calibri" pitchFamily="34" charset="0"/>
                <a:ea typeface="Calibri" pitchFamily="34" charset="-122"/>
                <a:cs typeface="Calibri" pitchFamily="34" charset="-120"/>
              </a:rPr>
              <a:t>Recognition results are rendered directly into the Tkinter video panel.</a:t>
            </a:r>
            <a:endParaRPr lang="en-US" sz="1600" dirty="0"/>
          </a:p>
        </p:txBody>
      </p:sp>
      <p:sp>
        <p:nvSpPr>
          <p:cNvPr id="12" name="Shape 10"/>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13" name="Text 11"/>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offline local inference</a:t>
            </a:r>
            <a:endParaRPr lang="en-US" sz="1000" dirty="0"/>
          </a:p>
        </p:txBody>
      </p:sp>
      <p:sp>
        <p:nvSpPr>
          <p:cNvPr id="14" name="Text 12"/>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3/14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System Architecture</a:t>
            </a:r>
            <a:endParaRPr lang="en-US" sz="3600" dirty="0"/>
          </a:p>
        </p:txBody>
      </p:sp>
      <p:sp>
        <p:nvSpPr>
          <p:cNvPr id="3" name="Shape 1"/>
          <p:cNvSpPr/>
          <p:nvPr/>
        </p:nvSpPr>
        <p:spPr>
          <a:xfrm>
            <a:off x="731520" y="1325880"/>
            <a:ext cx="2057400" cy="841248"/>
          </a:xfrm>
          <a:prstGeom prst="roundRect">
            <a:avLst>
              <a:gd name="adj" fmla="val 8696"/>
            </a:avLst>
          </a:prstGeom>
          <a:solidFill>
            <a:srgbClr val="EAF7FC"/>
          </a:solidFill>
          <a:ln w="15240">
            <a:solidFill>
              <a:srgbClr val="00C2FF"/>
            </a:solidFill>
            <a:prstDash val="solid"/>
          </a:ln>
        </p:spPr>
      </p:sp>
      <p:sp>
        <p:nvSpPr>
          <p:cNvPr id="4" name="Text 2"/>
          <p:cNvSpPr/>
          <p:nvPr/>
        </p:nvSpPr>
        <p:spPr>
          <a:xfrm>
            <a:off x="822960" y="1508760"/>
            <a:ext cx="1874520" cy="384048"/>
          </a:xfrm>
          <a:prstGeom prst="rect">
            <a:avLst/>
          </a:prstGeom>
          <a:noFill/>
          <a:ln/>
        </p:spPr>
        <p:txBody>
          <a:bodyPr wrap="square" lIns="0" tIns="0" rIns="0" bIns="0" rtlCol="0" anchor="ctr">
            <a:normAutofit/>
          </a:bodyPr>
          <a:lstStyle/>
          <a:p>
            <a:pPr algn="ctr" indent="0" marL="0">
              <a:buNone/>
            </a:pPr>
            <a:r>
              <a:rPr lang="en-US" sz="1400" b="1" dirty="0">
                <a:solidFill>
                  <a:srgbClr val="0D1B2A"/>
                </a:solidFill>
                <a:latin typeface="Calibri" pitchFamily="34" charset="0"/>
                <a:ea typeface="Calibri" pitchFamily="34" charset="-122"/>
                <a:cs typeface="Calibri" pitchFamily="34" charset="-120"/>
              </a:rPr>
              <a:t>Tkinter UI</a:t>
            </a:r>
            <a:endParaRPr lang="en-US" sz="1400" dirty="0"/>
          </a:p>
        </p:txBody>
      </p:sp>
      <p:sp>
        <p:nvSpPr>
          <p:cNvPr id="5" name="Shape 3"/>
          <p:cNvSpPr/>
          <p:nvPr/>
        </p:nvSpPr>
        <p:spPr>
          <a:xfrm>
            <a:off x="731520" y="3154680"/>
            <a:ext cx="2057400" cy="841248"/>
          </a:xfrm>
          <a:prstGeom prst="roundRect">
            <a:avLst>
              <a:gd name="adj" fmla="val 8696"/>
            </a:avLst>
          </a:prstGeom>
          <a:solidFill>
            <a:srgbClr val="EAF7FC"/>
          </a:solidFill>
          <a:ln w="15240">
            <a:solidFill>
              <a:srgbClr val="00C2FF"/>
            </a:solidFill>
            <a:prstDash val="solid"/>
          </a:ln>
        </p:spPr>
      </p:sp>
      <p:sp>
        <p:nvSpPr>
          <p:cNvPr id="6" name="Text 4"/>
          <p:cNvSpPr/>
          <p:nvPr/>
        </p:nvSpPr>
        <p:spPr>
          <a:xfrm>
            <a:off x="822960" y="3337560"/>
            <a:ext cx="1874520" cy="384048"/>
          </a:xfrm>
          <a:prstGeom prst="rect">
            <a:avLst/>
          </a:prstGeom>
          <a:noFill/>
          <a:ln/>
        </p:spPr>
        <p:txBody>
          <a:bodyPr wrap="square" lIns="0" tIns="0" rIns="0" bIns="0" rtlCol="0" anchor="ctr">
            <a:normAutofit/>
          </a:bodyPr>
          <a:lstStyle/>
          <a:p>
            <a:pPr algn="ctr" indent="0" marL="0">
              <a:buNone/>
            </a:pPr>
            <a:r>
              <a:rPr lang="en-US" sz="1400" b="1" dirty="0">
                <a:solidFill>
                  <a:srgbClr val="0D1B2A"/>
                </a:solidFill>
                <a:latin typeface="Calibri" pitchFamily="34" charset="0"/>
                <a:ea typeface="Calibri" pitchFamily="34" charset="-122"/>
                <a:cs typeface="Calibri" pitchFamily="34" charset="-120"/>
              </a:rPr>
              <a:t>OpenCV</a:t>
            </a:r>
            <a:endParaRPr lang="en-US" sz="1400" dirty="0"/>
          </a:p>
          <a:p>
            <a:pPr algn="ctr" indent="0" marL="0">
              <a:buNone/>
            </a:pPr>
            <a:r>
              <a:rPr lang="en-US" sz="1400" b="1" dirty="0">
                <a:solidFill>
                  <a:srgbClr val="0D1B2A"/>
                </a:solidFill>
                <a:latin typeface="Calibri" pitchFamily="34" charset="0"/>
                <a:ea typeface="Calibri" pitchFamily="34" charset="-122"/>
                <a:cs typeface="Calibri" pitchFamily="34" charset="-120"/>
              </a:rPr>
              <a:t>Webcam</a:t>
            </a:r>
            <a:endParaRPr lang="en-US" sz="1400" dirty="0"/>
          </a:p>
        </p:txBody>
      </p:sp>
      <p:sp>
        <p:nvSpPr>
          <p:cNvPr id="7" name="Shape 5"/>
          <p:cNvSpPr/>
          <p:nvPr/>
        </p:nvSpPr>
        <p:spPr>
          <a:xfrm>
            <a:off x="3657600" y="1325880"/>
            <a:ext cx="2057400" cy="841248"/>
          </a:xfrm>
          <a:prstGeom prst="roundRect">
            <a:avLst>
              <a:gd name="adj" fmla="val 8696"/>
            </a:avLst>
          </a:prstGeom>
          <a:solidFill>
            <a:srgbClr val="EAF7FC"/>
          </a:solidFill>
          <a:ln w="15240">
            <a:solidFill>
              <a:srgbClr val="00C2FF"/>
            </a:solidFill>
            <a:prstDash val="solid"/>
          </a:ln>
        </p:spPr>
      </p:sp>
      <p:sp>
        <p:nvSpPr>
          <p:cNvPr id="8" name="Text 6"/>
          <p:cNvSpPr/>
          <p:nvPr/>
        </p:nvSpPr>
        <p:spPr>
          <a:xfrm>
            <a:off x="3749040" y="1508760"/>
            <a:ext cx="1874520" cy="384048"/>
          </a:xfrm>
          <a:prstGeom prst="rect">
            <a:avLst/>
          </a:prstGeom>
          <a:noFill/>
          <a:ln/>
        </p:spPr>
        <p:txBody>
          <a:bodyPr wrap="square" lIns="0" tIns="0" rIns="0" bIns="0" rtlCol="0" anchor="ctr">
            <a:normAutofit/>
          </a:bodyPr>
          <a:lstStyle/>
          <a:p>
            <a:pPr algn="ctr" indent="0" marL="0">
              <a:buNone/>
            </a:pPr>
            <a:r>
              <a:rPr lang="en-US" sz="1400" b="1" dirty="0">
                <a:solidFill>
                  <a:srgbClr val="0D1B2A"/>
                </a:solidFill>
                <a:latin typeface="Calibri" pitchFamily="34" charset="0"/>
                <a:ea typeface="Calibri" pitchFamily="34" charset="-122"/>
                <a:cs typeface="Calibri" pitchFamily="34" charset="-120"/>
              </a:rPr>
              <a:t>BlazeFace</a:t>
            </a:r>
            <a:endParaRPr lang="en-US" sz="1400" dirty="0"/>
          </a:p>
          <a:p>
            <a:pPr algn="ctr" indent="0" marL="0">
              <a:buNone/>
            </a:pPr>
            <a:r>
              <a:rPr lang="en-US" sz="1400" b="1" dirty="0">
                <a:solidFill>
                  <a:srgbClr val="0D1B2A"/>
                </a:solidFill>
                <a:latin typeface="Calibri" pitchFamily="34" charset="0"/>
                <a:ea typeface="Calibri" pitchFamily="34" charset="-122"/>
                <a:cs typeface="Calibri" pitchFamily="34" charset="-120"/>
              </a:rPr>
              <a:t>Detector</a:t>
            </a:r>
            <a:endParaRPr lang="en-US" sz="1400" dirty="0"/>
          </a:p>
        </p:txBody>
      </p:sp>
      <p:sp>
        <p:nvSpPr>
          <p:cNvPr id="9" name="Shape 7"/>
          <p:cNvSpPr/>
          <p:nvPr/>
        </p:nvSpPr>
        <p:spPr>
          <a:xfrm>
            <a:off x="3657600" y="3154680"/>
            <a:ext cx="2057400" cy="841248"/>
          </a:xfrm>
          <a:prstGeom prst="roundRect">
            <a:avLst>
              <a:gd name="adj" fmla="val 8696"/>
            </a:avLst>
          </a:prstGeom>
          <a:solidFill>
            <a:srgbClr val="EAF7FC"/>
          </a:solidFill>
          <a:ln w="15240">
            <a:solidFill>
              <a:srgbClr val="00C2FF"/>
            </a:solidFill>
            <a:prstDash val="solid"/>
          </a:ln>
        </p:spPr>
      </p:sp>
      <p:sp>
        <p:nvSpPr>
          <p:cNvPr id="10" name="Text 8"/>
          <p:cNvSpPr/>
          <p:nvPr/>
        </p:nvSpPr>
        <p:spPr>
          <a:xfrm>
            <a:off x="3749040" y="3337560"/>
            <a:ext cx="1874520" cy="384048"/>
          </a:xfrm>
          <a:prstGeom prst="rect">
            <a:avLst/>
          </a:prstGeom>
          <a:noFill/>
          <a:ln/>
        </p:spPr>
        <p:txBody>
          <a:bodyPr wrap="square" lIns="0" tIns="0" rIns="0" bIns="0" rtlCol="0" anchor="ctr">
            <a:normAutofit/>
          </a:bodyPr>
          <a:lstStyle/>
          <a:p>
            <a:pPr algn="ctr" indent="0" marL="0">
              <a:buNone/>
            </a:pPr>
            <a:r>
              <a:rPr lang="en-US" sz="1400" b="1" dirty="0">
                <a:solidFill>
                  <a:srgbClr val="0D1B2A"/>
                </a:solidFill>
                <a:latin typeface="Calibri" pitchFamily="34" charset="0"/>
                <a:ea typeface="Calibri" pitchFamily="34" charset="-122"/>
                <a:cs typeface="Calibri" pitchFamily="34" charset="-120"/>
              </a:rPr>
              <a:t>FaceLandmarker</a:t>
            </a:r>
            <a:endParaRPr lang="en-US" sz="1400" dirty="0"/>
          </a:p>
          <a:p>
            <a:pPr algn="ctr" indent="0" marL="0">
              <a:buNone/>
            </a:pPr>
            <a:r>
              <a:rPr lang="en-US" sz="1400" b="1" dirty="0">
                <a:solidFill>
                  <a:srgbClr val="0D1B2A"/>
                </a:solidFill>
                <a:latin typeface="Calibri" pitchFamily="34" charset="0"/>
                <a:ea typeface="Calibri" pitchFamily="34" charset="-122"/>
                <a:cs typeface="Calibri" pitchFamily="34" charset="-120"/>
              </a:rPr>
              <a:t>Blink + Align</a:t>
            </a:r>
            <a:endParaRPr lang="en-US" sz="1400" dirty="0"/>
          </a:p>
        </p:txBody>
      </p:sp>
      <p:sp>
        <p:nvSpPr>
          <p:cNvPr id="11" name="Shape 9"/>
          <p:cNvSpPr/>
          <p:nvPr/>
        </p:nvSpPr>
        <p:spPr>
          <a:xfrm>
            <a:off x="6629400" y="1325880"/>
            <a:ext cx="2057400" cy="841248"/>
          </a:xfrm>
          <a:prstGeom prst="roundRect">
            <a:avLst>
              <a:gd name="adj" fmla="val 8696"/>
            </a:avLst>
          </a:prstGeom>
          <a:solidFill>
            <a:srgbClr val="EAF7FC"/>
          </a:solidFill>
          <a:ln w="15240">
            <a:solidFill>
              <a:srgbClr val="00C2FF"/>
            </a:solidFill>
            <a:prstDash val="solid"/>
          </a:ln>
        </p:spPr>
      </p:sp>
      <p:sp>
        <p:nvSpPr>
          <p:cNvPr id="12" name="Text 10"/>
          <p:cNvSpPr/>
          <p:nvPr/>
        </p:nvSpPr>
        <p:spPr>
          <a:xfrm>
            <a:off x="6720840" y="1508760"/>
            <a:ext cx="1874520" cy="384048"/>
          </a:xfrm>
          <a:prstGeom prst="rect">
            <a:avLst/>
          </a:prstGeom>
          <a:noFill/>
          <a:ln/>
        </p:spPr>
        <p:txBody>
          <a:bodyPr wrap="square" lIns="0" tIns="0" rIns="0" bIns="0" rtlCol="0" anchor="ctr">
            <a:normAutofit/>
          </a:bodyPr>
          <a:lstStyle/>
          <a:p>
            <a:pPr algn="ctr" indent="0" marL="0">
              <a:buNone/>
            </a:pPr>
            <a:r>
              <a:rPr lang="en-US" sz="1400" b="1" dirty="0">
                <a:solidFill>
                  <a:srgbClr val="0D1B2A"/>
                </a:solidFill>
                <a:latin typeface="Calibri" pitchFamily="34" charset="0"/>
                <a:ea typeface="Calibri" pitchFamily="34" charset="-122"/>
                <a:cs typeface="Calibri" pitchFamily="34" charset="-120"/>
              </a:rPr>
              <a:t>SFace ONNX</a:t>
            </a:r>
            <a:endParaRPr lang="en-US" sz="1400" dirty="0"/>
          </a:p>
          <a:p>
            <a:pPr algn="ctr" indent="0" marL="0">
              <a:buNone/>
            </a:pPr>
            <a:r>
              <a:rPr lang="en-US" sz="1400" b="1" dirty="0">
                <a:solidFill>
                  <a:srgbClr val="0D1B2A"/>
                </a:solidFill>
                <a:latin typeface="Calibri" pitchFamily="34" charset="0"/>
                <a:ea typeface="Calibri" pitchFamily="34" charset="-122"/>
                <a:cs typeface="Calibri" pitchFamily="34" charset="-120"/>
              </a:rPr>
              <a:t>Embedding</a:t>
            </a:r>
            <a:endParaRPr lang="en-US" sz="1400" dirty="0"/>
          </a:p>
        </p:txBody>
      </p:sp>
      <p:sp>
        <p:nvSpPr>
          <p:cNvPr id="13" name="Shape 11"/>
          <p:cNvSpPr/>
          <p:nvPr/>
        </p:nvSpPr>
        <p:spPr>
          <a:xfrm>
            <a:off x="6629400" y="3154680"/>
            <a:ext cx="2057400" cy="841248"/>
          </a:xfrm>
          <a:prstGeom prst="roundRect">
            <a:avLst>
              <a:gd name="adj" fmla="val 8696"/>
            </a:avLst>
          </a:prstGeom>
          <a:solidFill>
            <a:srgbClr val="EAF7FC"/>
          </a:solidFill>
          <a:ln w="15240">
            <a:solidFill>
              <a:srgbClr val="00C2FF"/>
            </a:solidFill>
            <a:prstDash val="solid"/>
          </a:ln>
        </p:spPr>
      </p:sp>
      <p:sp>
        <p:nvSpPr>
          <p:cNvPr id="14" name="Text 12"/>
          <p:cNvSpPr/>
          <p:nvPr/>
        </p:nvSpPr>
        <p:spPr>
          <a:xfrm>
            <a:off x="6720840" y="3337560"/>
            <a:ext cx="1874520" cy="384048"/>
          </a:xfrm>
          <a:prstGeom prst="rect">
            <a:avLst/>
          </a:prstGeom>
          <a:noFill/>
          <a:ln/>
        </p:spPr>
        <p:txBody>
          <a:bodyPr wrap="square" lIns="0" tIns="0" rIns="0" bIns="0" rtlCol="0" anchor="ctr">
            <a:normAutofit/>
          </a:bodyPr>
          <a:lstStyle/>
          <a:p>
            <a:pPr algn="ctr" indent="0" marL="0">
              <a:buNone/>
            </a:pPr>
            <a:r>
              <a:rPr lang="en-US" sz="1400" b="1" dirty="0">
                <a:solidFill>
                  <a:srgbClr val="0D1B2A"/>
                </a:solidFill>
                <a:latin typeface="Calibri" pitchFamily="34" charset="0"/>
                <a:ea typeface="Calibri" pitchFamily="34" charset="-122"/>
                <a:cs typeface="Calibri" pitchFamily="34" charset="-120"/>
              </a:rPr>
              <a:t>Cosine Match</a:t>
            </a:r>
            <a:endParaRPr lang="en-US" sz="1400" dirty="0"/>
          </a:p>
          <a:p>
            <a:pPr algn="ctr" indent="0" marL="0">
              <a:buNone/>
            </a:pPr>
            <a:r>
              <a:rPr lang="en-US" sz="1400" b="1" dirty="0">
                <a:solidFill>
                  <a:srgbClr val="0D1B2A"/>
                </a:solidFill>
                <a:latin typeface="Calibri" pitchFamily="34" charset="0"/>
                <a:ea typeface="Calibri" pitchFamily="34" charset="-122"/>
                <a:cs typeface="Calibri" pitchFamily="34" charset="-120"/>
              </a:rPr>
              <a:t>Status Overlay</a:t>
            </a:r>
            <a:endParaRPr lang="en-US" sz="1400" dirty="0"/>
          </a:p>
        </p:txBody>
      </p:sp>
      <p:sp>
        <p:nvSpPr>
          <p:cNvPr id="15" name="Shape 13"/>
          <p:cNvSpPr/>
          <p:nvPr/>
        </p:nvSpPr>
        <p:spPr>
          <a:xfrm>
            <a:off x="9555480" y="2240280"/>
            <a:ext cx="2057400" cy="841248"/>
          </a:xfrm>
          <a:prstGeom prst="roundRect">
            <a:avLst>
              <a:gd name="adj" fmla="val 8696"/>
            </a:avLst>
          </a:prstGeom>
          <a:solidFill>
            <a:srgbClr val="EAF7FC"/>
          </a:solidFill>
          <a:ln w="15240">
            <a:solidFill>
              <a:srgbClr val="00C2FF"/>
            </a:solidFill>
            <a:prstDash val="solid"/>
          </a:ln>
        </p:spPr>
      </p:sp>
      <p:sp>
        <p:nvSpPr>
          <p:cNvPr id="16" name="Text 14"/>
          <p:cNvSpPr/>
          <p:nvPr/>
        </p:nvSpPr>
        <p:spPr>
          <a:xfrm>
            <a:off x="9646920" y="2423160"/>
            <a:ext cx="1874520" cy="384048"/>
          </a:xfrm>
          <a:prstGeom prst="rect">
            <a:avLst/>
          </a:prstGeom>
          <a:noFill/>
          <a:ln/>
        </p:spPr>
        <p:txBody>
          <a:bodyPr wrap="square" lIns="0" tIns="0" rIns="0" bIns="0" rtlCol="0" anchor="ctr">
            <a:normAutofit/>
          </a:bodyPr>
          <a:lstStyle/>
          <a:p>
            <a:pPr algn="ctr" indent="0" marL="0">
              <a:buNone/>
            </a:pPr>
            <a:r>
              <a:rPr lang="en-US" sz="1400" b="1" dirty="0">
                <a:solidFill>
                  <a:srgbClr val="0D1B2A"/>
                </a:solidFill>
                <a:latin typeface="Calibri" pitchFamily="34" charset="0"/>
                <a:ea typeface="Calibri" pitchFamily="34" charset="-122"/>
                <a:cs typeface="Calibri" pitchFamily="34" charset="-120"/>
              </a:rPr>
              <a:t>Detection Log</a:t>
            </a:r>
            <a:endParaRPr lang="en-US" sz="1400" dirty="0"/>
          </a:p>
        </p:txBody>
      </p:sp>
      <p:sp>
        <p:nvSpPr>
          <p:cNvPr id="17" name="Shape 15"/>
          <p:cNvSpPr/>
          <p:nvPr/>
        </p:nvSpPr>
        <p:spPr>
          <a:xfrm>
            <a:off x="2788920" y="1737360"/>
            <a:ext cx="868680" cy="0"/>
          </a:xfrm>
          <a:prstGeom prst="line">
            <a:avLst/>
          </a:prstGeom>
          <a:noFill/>
          <a:ln w="25400">
            <a:solidFill>
              <a:srgbClr val="00C2FF"/>
            </a:solidFill>
            <a:prstDash val="solid"/>
            <a:headEnd type="none"/>
            <a:tailEnd type="triangle"/>
          </a:ln>
        </p:spPr>
      </p:sp>
      <p:sp>
        <p:nvSpPr>
          <p:cNvPr id="18" name="Shape 16"/>
          <p:cNvSpPr/>
          <p:nvPr/>
        </p:nvSpPr>
        <p:spPr>
          <a:xfrm>
            <a:off x="2788920" y="3566160"/>
            <a:ext cx="868680" cy="0"/>
          </a:xfrm>
          <a:prstGeom prst="line">
            <a:avLst/>
          </a:prstGeom>
          <a:noFill/>
          <a:ln w="25400">
            <a:solidFill>
              <a:srgbClr val="00C2FF"/>
            </a:solidFill>
            <a:prstDash val="solid"/>
            <a:headEnd type="none"/>
            <a:tailEnd type="triangle"/>
          </a:ln>
        </p:spPr>
      </p:sp>
      <p:sp>
        <p:nvSpPr>
          <p:cNvPr id="19" name="Shape 17"/>
          <p:cNvSpPr/>
          <p:nvPr/>
        </p:nvSpPr>
        <p:spPr>
          <a:xfrm>
            <a:off x="5715000" y="1737360"/>
            <a:ext cx="914400" cy="0"/>
          </a:xfrm>
          <a:prstGeom prst="line">
            <a:avLst/>
          </a:prstGeom>
          <a:noFill/>
          <a:ln w="25400">
            <a:solidFill>
              <a:srgbClr val="00C2FF"/>
            </a:solidFill>
            <a:prstDash val="solid"/>
            <a:headEnd type="none"/>
            <a:tailEnd type="triangle"/>
          </a:ln>
        </p:spPr>
      </p:sp>
      <p:sp>
        <p:nvSpPr>
          <p:cNvPr id="20" name="Shape 18"/>
          <p:cNvSpPr/>
          <p:nvPr/>
        </p:nvSpPr>
        <p:spPr>
          <a:xfrm>
            <a:off x="5715000" y="3566160"/>
            <a:ext cx="914400" cy="0"/>
          </a:xfrm>
          <a:prstGeom prst="line">
            <a:avLst/>
          </a:prstGeom>
          <a:noFill/>
          <a:ln w="25400">
            <a:solidFill>
              <a:srgbClr val="00C2FF"/>
            </a:solidFill>
            <a:prstDash val="solid"/>
            <a:headEnd type="none"/>
            <a:tailEnd type="triangle"/>
          </a:ln>
        </p:spPr>
      </p:sp>
      <p:sp>
        <p:nvSpPr>
          <p:cNvPr id="21" name="Shape 19"/>
          <p:cNvSpPr/>
          <p:nvPr/>
        </p:nvSpPr>
        <p:spPr>
          <a:xfrm>
            <a:off x="8686800" y="3566160"/>
            <a:ext cx="868680" cy="-914400"/>
          </a:xfrm>
          <a:prstGeom prst="line">
            <a:avLst/>
          </a:prstGeom>
          <a:noFill/>
          <a:ln w="25400">
            <a:solidFill>
              <a:srgbClr val="00C2FF"/>
            </a:solidFill>
            <a:prstDash val="solid"/>
            <a:headEnd type="none"/>
            <a:tailEnd type="triangle"/>
          </a:ln>
        </p:spPr>
      </p:sp>
      <p:sp>
        <p:nvSpPr>
          <p:cNvPr id="22" name="Shape 20"/>
          <p:cNvSpPr/>
          <p:nvPr/>
        </p:nvSpPr>
        <p:spPr>
          <a:xfrm>
            <a:off x="1737360" y="2167128"/>
            <a:ext cx="0" cy="987552"/>
          </a:xfrm>
          <a:prstGeom prst="line">
            <a:avLst/>
          </a:prstGeom>
          <a:noFill/>
          <a:ln w="25400">
            <a:solidFill>
              <a:srgbClr val="00C2FF"/>
            </a:solidFill>
            <a:prstDash val="solid"/>
            <a:headEnd type="none"/>
            <a:tailEnd type="triangle"/>
          </a:ln>
        </p:spPr>
      </p:sp>
      <p:sp>
        <p:nvSpPr>
          <p:cNvPr id="23" name="Shape 21"/>
          <p:cNvSpPr/>
          <p:nvPr/>
        </p:nvSpPr>
        <p:spPr>
          <a:xfrm>
            <a:off x="4663440" y="2167128"/>
            <a:ext cx="0" cy="987552"/>
          </a:xfrm>
          <a:prstGeom prst="line">
            <a:avLst/>
          </a:prstGeom>
          <a:noFill/>
          <a:ln w="25400">
            <a:solidFill>
              <a:srgbClr val="00C2FF"/>
            </a:solidFill>
            <a:prstDash val="solid"/>
            <a:headEnd type="none"/>
            <a:tailEnd type="triangle"/>
          </a:ln>
        </p:spPr>
      </p:sp>
      <p:sp>
        <p:nvSpPr>
          <p:cNvPr id="24" name="Shape 22"/>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25" name="Text 23"/>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native shape diagram</a:t>
            </a:r>
            <a:endParaRPr lang="en-US" sz="1000" dirty="0"/>
          </a:p>
        </p:txBody>
      </p:sp>
      <p:sp>
        <p:nvSpPr>
          <p:cNvPr id="26" name="Text 24"/>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4/14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ML Pipeline: Actual Models</a:t>
            </a:r>
            <a:endParaRPr lang="en-US" sz="3600" dirty="0"/>
          </a:p>
        </p:txBody>
      </p:sp>
      <p:sp>
        <p:nvSpPr>
          <p:cNvPr id="3" name="Shape 1"/>
          <p:cNvSpPr/>
          <p:nvPr/>
        </p:nvSpPr>
        <p:spPr>
          <a:xfrm>
            <a:off x="731520" y="1325880"/>
            <a:ext cx="2743200" cy="1828800"/>
          </a:xfrm>
          <a:prstGeom prst="roundRect">
            <a:avLst>
              <a:gd name="adj" fmla="val 4000"/>
            </a:avLst>
          </a:prstGeom>
          <a:solidFill>
            <a:srgbClr val="F4F7FA"/>
          </a:solidFill>
          <a:ln w="12700">
            <a:solidFill>
              <a:srgbClr val="BFD7E3">
                <a:alpha val="80000"/>
              </a:srgbClr>
            </a:solidFill>
            <a:prstDash val="solid"/>
          </a:ln>
        </p:spPr>
      </p:sp>
      <p:sp>
        <p:nvSpPr>
          <p:cNvPr id="4" name="Text 2"/>
          <p:cNvSpPr/>
          <p:nvPr/>
        </p:nvSpPr>
        <p:spPr>
          <a:xfrm>
            <a:off x="896112" y="1472184"/>
            <a:ext cx="241401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1. Detect</a:t>
            </a:r>
            <a:endParaRPr lang="en-US" sz="1500" dirty="0"/>
          </a:p>
        </p:txBody>
      </p:sp>
      <p:sp>
        <p:nvSpPr>
          <p:cNvPr id="5" name="Text 3"/>
          <p:cNvSpPr/>
          <p:nvPr/>
        </p:nvSpPr>
        <p:spPr>
          <a:xfrm>
            <a:off x="896112" y="1801368"/>
            <a:ext cx="2414016" cy="123444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MediaPipe BlazeFace short-range</a:t>
            </a:r>
            <a:endParaRPr lang="en-US" sz="1200" dirty="0"/>
          </a:p>
          <a:p>
            <a:pPr indent="0" marL="0">
              <a:buNone/>
            </a:pPr>
            <a:r>
              <a:rPr lang="en-US" sz="1200" dirty="0">
                <a:solidFill>
                  <a:srgbClr val="172033"/>
                </a:solidFill>
                <a:latin typeface="Calibri" pitchFamily="34" charset="0"/>
                <a:ea typeface="Calibri" pitchFamily="34" charset="-122"/>
                <a:cs typeface="Calibri" pitchFamily="34" charset="-120"/>
              </a:rPr>
              <a:t>blaze_face_short_range.tflite</a:t>
            </a:r>
            <a:endParaRPr lang="en-US" sz="1200" dirty="0"/>
          </a:p>
          <a:p>
            <a:pPr indent="0" marL="0">
              <a:buNone/>
            </a:pPr>
            <a:r>
              <a:rPr lang="en-US" sz="1200" dirty="0">
                <a:solidFill>
                  <a:srgbClr val="172033"/>
                </a:solidFill>
                <a:latin typeface="Calibri" pitchFamily="34" charset="0"/>
                <a:ea typeface="Calibri" pitchFamily="34" charset="-122"/>
                <a:cs typeface="Calibri" pitchFamily="34" charset="-120"/>
              </a:rPr>
              <a:t>0.22 MB</a:t>
            </a:r>
            <a:endParaRPr lang="en-US" sz="1200" dirty="0"/>
          </a:p>
        </p:txBody>
      </p:sp>
      <p:sp>
        <p:nvSpPr>
          <p:cNvPr id="6" name="Shape 4"/>
          <p:cNvSpPr/>
          <p:nvPr/>
        </p:nvSpPr>
        <p:spPr>
          <a:xfrm>
            <a:off x="3703320" y="1325880"/>
            <a:ext cx="2743200" cy="1828800"/>
          </a:xfrm>
          <a:prstGeom prst="roundRect">
            <a:avLst>
              <a:gd name="adj" fmla="val 4000"/>
            </a:avLst>
          </a:prstGeom>
          <a:solidFill>
            <a:srgbClr val="F4F7FA"/>
          </a:solidFill>
          <a:ln w="12700">
            <a:solidFill>
              <a:srgbClr val="BFD7E3">
                <a:alpha val="80000"/>
              </a:srgbClr>
            </a:solidFill>
            <a:prstDash val="solid"/>
          </a:ln>
        </p:spPr>
      </p:sp>
      <p:sp>
        <p:nvSpPr>
          <p:cNvPr id="7" name="Text 5"/>
          <p:cNvSpPr/>
          <p:nvPr/>
        </p:nvSpPr>
        <p:spPr>
          <a:xfrm>
            <a:off x="3867912" y="1472184"/>
            <a:ext cx="241401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2. Liveness + Align</a:t>
            </a:r>
            <a:endParaRPr lang="en-US" sz="1500" dirty="0"/>
          </a:p>
        </p:txBody>
      </p:sp>
      <p:sp>
        <p:nvSpPr>
          <p:cNvPr id="8" name="Text 6"/>
          <p:cNvSpPr/>
          <p:nvPr/>
        </p:nvSpPr>
        <p:spPr>
          <a:xfrm>
            <a:off x="3867912" y="1801368"/>
            <a:ext cx="2414016" cy="123444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MediaPipe FaceLandmarker</a:t>
            </a:r>
            <a:endParaRPr lang="en-US" sz="1200" dirty="0"/>
          </a:p>
          <a:p>
            <a:pPr indent="0" marL="0">
              <a:buNone/>
            </a:pPr>
            <a:r>
              <a:rPr lang="en-US" sz="1200" dirty="0">
                <a:solidFill>
                  <a:srgbClr val="172033"/>
                </a:solidFill>
                <a:latin typeface="Calibri" pitchFamily="34" charset="0"/>
                <a:ea typeface="Calibri" pitchFamily="34" charset="-122"/>
                <a:cs typeface="Calibri" pitchFamily="34" charset="-120"/>
              </a:rPr>
              <a:t>face_landmarker.task</a:t>
            </a:r>
            <a:endParaRPr lang="en-US" sz="1200" dirty="0"/>
          </a:p>
          <a:p>
            <a:pPr indent="0" marL="0">
              <a:buNone/>
            </a:pPr>
            <a:r>
              <a:rPr lang="en-US" sz="1200" dirty="0">
                <a:solidFill>
                  <a:srgbClr val="172033"/>
                </a:solidFill>
                <a:latin typeface="Calibri" pitchFamily="34" charset="0"/>
                <a:ea typeface="Calibri" pitchFamily="34" charset="-122"/>
                <a:cs typeface="Calibri" pitchFamily="34" charset="-120"/>
              </a:rPr>
              <a:t>3.58 MB</a:t>
            </a:r>
            <a:endParaRPr lang="en-US" sz="1200" dirty="0"/>
          </a:p>
        </p:txBody>
      </p:sp>
      <p:sp>
        <p:nvSpPr>
          <p:cNvPr id="9" name="Shape 7"/>
          <p:cNvSpPr/>
          <p:nvPr/>
        </p:nvSpPr>
        <p:spPr>
          <a:xfrm>
            <a:off x="6675120" y="1325880"/>
            <a:ext cx="2743200" cy="1828800"/>
          </a:xfrm>
          <a:prstGeom prst="roundRect">
            <a:avLst>
              <a:gd name="adj" fmla="val 4000"/>
            </a:avLst>
          </a:prstGeom>
          <a:solidFill>
            <a:srgbClr val="F4F7FA"/>
          </a:solidFill>
          <a:ln w="12700">
            <a:solidFill>
              <a:srgbClr val="BFD7E3">
                <a:alpha val="80000"/>
              </a:srgbClr>
            </a:solidFill>
            <a:prstDash val="solid"/>
          </a:ln>
        </p:spPr>
      </p:sp>
      <p:sp>
        <p:nvSpPr>
          <p:cNvPr id="10" name="Text 8"/>
          <p:cNvSpPr/>
          <p:nvPr/>
        </p:nvSpPr>
        <p:spPr>
          <a:xfrm>
            <a:off x="6839712" y="1472184"/>
            <a:ext cx="241401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3. Embed + Match</a:t>
            </a:r>
            <a:endParaRPr lang="en-US" sz="1500" dirty="0"/>
          </a:p>
        </p:txBody>
      </p:sp>
      <p:sp>
        <p:nvSpPr>
          <p:cNvPr id="11" name="Text 9"/>
          <p:cNvSpPr/>
          <p:nvPr/>
        </p:nvSpPr>
        <p:spPr>
          <a:xfrm>
            <a:off x="6839712" y="1801368"/>
            <a:ext cx="2414016" cy="123444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OpenCV SFace ONNX</a:t>
            </a:r>
            <a:endParaRPr lang="en-US" sz="1200" dirty="0"/>
          </a:p>
          <a:p>
            <a:pPr indent="0" marL="0">
              <a:buNone/>
            </a:pPr>
            <a:r>
              <a:rPr lang="en-US" sz="1200" dirty="0">
                <a:solidFill>
                  <a:srgbClr val="172033"/>
                </a:solidFill>
                <a:latin typeface="Calibri" pitchFamily="34" charset="0"/>
                <a:ea typeface="Calibri" pitchFamily="34" charset="-122"/>
                <a:cs typeface="Calibri" pitchFamily="34" charset="-120"/>
              </a:rPr>
              <a:t>face_recognition_sface_2021dec.onnx</a:t>
            </a:r>
            <a:endParaRPr lang="en-US" sz="1200" dirty="0"/>
          </a:p>
          <a:p>
            <a:pPr indent="0" marL="0">
              <a:buNone/>
            </a:pPr>
            <a:r>
              <a:rPr lang="en-US" sz="1200" dirty="0">
                <a:solidFill>
                  <a:srgbClr val="172033"/>
                </a:solidFill>
                <a:latin typeface="Calibri" pitchFamily="34" charset="0"/>
                <a:ea typeface="Calibri" pitchFamily="34" charset="-122"/>
                <a:cs typeface="Calibri" pitchFamily="34" charset="-120"/>
              </a:rPr>
              <a:t>36.90 MB</a:t>
            </a:r>
            <a:endParaRPr lang="en-US" sz="1200" dirty="0"/>
          </a:p>
        </p:txBody>
      </p:sp>
      <p:sp>
        <p:nvSpPr>
          <p:cNvPr id="12" name="Shape 10"/>
          <p:cNvSpPr/>
          <p:nvPr/>
        </p:nvSpPr>
        <p:spPr>
          <a:xfrm>
            <a:off x="3474720" y="2240280"/>
            <a:ext cx="228600" cy="0"/>
          </a:xfrm>
          <a:prstGeom prst="line">
            <a:avLst/>
          </a:prstGeom>
          <a:noFill/>
          <a:ln w="25400">
            <a:solidFill>
              <a:srgbClr val="00C2FF"/>
            </a:solidFill>
            <a:prstDash val="solid"/>
            <a:headEnd type="none"/>
            <a:tailEnd type="triangle"/>
          </a:ln>
        </p:spPr>
      </p:sp>
      <p:sp>
        <p:nvSpPr>
          <p:cNvPr id="13" name="Shape 11"/>
          <p:cNvSpPr/>
          <p:nvPr/>
        </p:nvSpPr>
        <p:spPr>
          <a:xfrm>
            <a:off x="6446520" y="2240280"/>
            <a:ext cx="228600" cy="0"/>
          </a:xfrm>
          <a:prstGeom prst="line">
            <a:avLst/>
          </a:prstGeom>
          <a:noFill/>
          <a:ln w="25400">
            <a:solidFill>
              <a:srgbClr val="00C2FF"/>
            </a:solidFill>
            <a:prstDash val="solid"/>
            <a:headEnd type="none"/>
            <a:tailEnd type="triangle"/>
          </a:ln>
        </p:spPr>
      </p:sp>
      <p:sp>
        <p:nvSpPr>
          <p:cNvPr id="14" name="Shape 12"/>
          <p:cNvSpPr/>
          <p:nvPr/>
        </p:nvSpPr>
        <p:spPr>
          <a:xfrm>
            <a:off x="9784080" y="1325880"/>
            <a:ext cx="1691640" cy="1828800"/>
          </a:xfrm>
          <a:prstGeom prst="roundRect">
            <a:avLst>
              <a:gd name="adj" fmla="val 4324"/>
            </a:avLst>
          </a:prstGeom>
          <a:solidFill>
            <a:srgbClr val="0D1B2A"/>
          </a:solidFill>
          <a:ln w="12700">
            <a:solidFill>
              <a:srgbClr val="0D1B2A"/>
            </a:solidFill>
            <a:prstDash val="solid"/>
          </a:ln>
        </p:spPr>
      </p:sp>
      <p:sp>
        <p:nvSpPr>
          <p:cNvPr id="15" name="Text 13"/>
          <p:cNvSpPr/>
          <p:nvPr/>
        </p:nvSpPr>
        <p:spPr>
          <a:xfrm>
            <a:off x="9948672" y="1810512"/>
            <a:ext cx="1353312" cy="68580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No</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MobileNetV2</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found</a:t>
            </a:r>
            <a:endParaRPr lang="en-US" sz="1600" dirty="0"/>
          </a:p>
        </p:txBody>
      </p:sp>
      <p:sp>
        <p:nvSpPr>
          <p:cNvPr id="16" name="Text 14"/>
          <p:cNvSpPr/>
          <p:nvPr/>
        </p:nvSpPr>
        <p:spPr>
          <a:xfrm>
            <a:off x="1051560" y="4069080"/>
            <a:ext cx="365760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40.70 MB</a:t>
            </a:r>
            <a:endParaRPr lang="en-US" sz="6000" dirty="0"/>
          </a:p>
        </p:txBody>
      </p:sp>
      <p:sp>
        <p:nvSpPr>
          <p:cNvPr id="17" name="Text 15"/>
          <p:cNvSpPr/>
          <p:nvPr/>
        </p:nvSpPr>
        <p:spPr>
          <a:xfrm>
            <a:off x="1051560" y="4782312"/>
            <a:ext cx="365760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actual total model artifacts</a:t>
            </a:r>
            <a:endParaRPr lang="en-US" sz="1400" dirty="0"/>
          </a:p>
        </p:txBody>
      </p:sp>
      <p:sp>
        <p:nvSpPr>
          <p:cNvPr id="18" name="Text 16"/>
          <p:cNvSpPr/>
          <p:nvPr/>
        </p:nvSpPr>
        <p:spPr>
          <a:xfrm>
            <a:off x="4709160" y="4069080"/>
            <a:ext cx="310896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0.363</a:t>
            </a:r>
            <a:endParaRPr lang="en-US" sz="6000" dirty="0"/>
          </a:p>
        </p:txBody>
      </p:sp>
      <p:sp>
        <p:nvSpPr>
          <p:cNvPr id="19" name="Text 17"/>
          <p:cNvSpPr/>
          <p:nvPr/>
        </p:nvSpPr>
        <p:spPr>
          <a:xfrm>
            <a:off x="4709160" y="4782312"/>
            <a:ext cx="310896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SFace threshold reference</a:t>
            </a:r>
            <a:endParaRPr lang="en-US" sz="1400" dirty="0"/>
          </a:p>
        </p:txBody>
      </p:sp>
      <p:sp>
        <p:nvSpPr>
          <p:cNvPr id="20" name="Text 18"/>
          <p:cNvSpPr/>
          <p:nvPr/>
        </p:nvSpPr>
        <p:spPr>
          <a:xfrm>
            <a:off x="8046720" y="4069080"/>
            <a:ext cx="292608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99.31%</a:t>
            </a:r>
            <a:endParaRPr lang="en-US" sz="6000" dirty="0"/>
          </a:p>
        </p:txBody>
      </p:sp>
      <p:sp>
        <p:nvSpPr>
          <p:cNvPr id="21" name="Text 19"/>
          <p:cNvSpPr/>
          <p:nvPr/>
        </p:nvSpPr>
        <p:spPr>
          <a:xfrm>
            <a:off x="8046720" y="4782312"/>
            <a:ext cx="292608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LFW accuracy comment</a:t>
            </a:r>
            <a:endParaRPr lang="en-US" sz="1400" dirty="0"/>
          </a:p>
        </p:txBody>
      </p:sp>
      <p:sp>
        <p:nvSpPr>
          <p:cNvPr id="22" name="Shape 20"/>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23" name="Text 21"/>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code-grounded correction</a:t>
            </a:r>
            <a:endParaRPr lang="en-US" sz="1000" dirty="0"/>
          </a:p>
        </p:txBody>
      </p:sp>
      <p:sp>
        <p:nvSpPr>
          <p:cNvPr id="24" name="Text 22"/>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5/14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Liveness Detection</a:t>
            </a:r>
            <a:endParaRPr lang="en-US" sz="3600" dirty="0"/>
          </a:p>
        </p:txBody>
      </p:sp>
      <p:sp>
        <p:nvSpPr>
          <p:cNvPr id="3" name="Shape 1"/>
          <p:cNvSpPr/>
          <p:nvPr/>
        </p:nvSpPr>
        <p:spPr>
          <a:xfrm>
            <a:off x="868680" y="1325880"/>
            <a:ext cx="2194560" cy="914400"/>
          </a:xfrm>
          <a:prstGeom prst="flowChartPreparation">
            <a:avLst/>
          </a:prstGeom>
          <a:solidFill>
            <a:srgbClr val="EAF7FC"/>
          </a:solidFill>
          <a:ln w="12700">
            <a:solidFill>
              <a:srgbClr val="00C2FF"/>
            </a:solidFill>
            <a:prstDash val="solid"/>
          </a:ln>
        </p:spPr>
      </p:sp>
      <p:sp>
        <p:nvSpPr>
          <p:cNvPr id="4" name="Text 2"/>
          <p:cNvSpPr/>
          <p:nvPr/>
        </p:nvSpPr>
        <p:spPr>
          <a:xfrm>
            <a:off x="1051560" y="1600200"/>
            <a:ext cx="1828800" cy="347472"/>
          </a:xfrm>
          <a:prstGeom prst="rect">
            <a:avLst/>
          </a:prstGeom>
          <a:noFill/>
          <a:ln/>
        </p:spPr>
        <p:txBody>
          <a:bodyPr wrap="square" lIns="0" tIns="0" rIns="0" bIns="0" rtlCol="0" anchor="ctr"/>
          <a:lstStyle/>
          <a:p>
            <a:pPr algn="ctr" indent="0" marL="0">
              <a:buNone/>
            </a:pPr>
            <a:r>
              <a:rPr lang="en-US" sz="1500" b="1" dirty="0">
                <a:solidFill>
                  <a:srgbClr val="0D1B2A"/>
                </a:solidFill>
                <a:latin typeface="Calibri" pitchFamily="34" charset="0"/>
                <a:ea typeface="Calibri" pitchFamily="34" charset="-122"/>
                <a:cs typeface="Calibri" pitchFamily="34" charset="-120"/>
              </a:rPr>
              <a:t>Open eyes</a:t>
            </a:r>
            <a:endParaRPr lang="en-US" sz="1500" dirty="0"/>
          </a:p>
          <a:p>
            <a:pPr algn="ctr" indent="0" marL="0">
              <a:buNone/>
            </a:pPr>
            <a:r>
              <a:rPr lang="en-US" sz="1500" b="1" dirty="0">
                <a:solidFill>
                  <a:srgbClr val="0D1B2A"/>
                </a:solidFill>
                <a:latin typeface="Calibri" pitchFamily="34" charset="0"/>
                <a:ea typeface="Calibri" pitchFamily="34" charset="-122"/>
                <a:cs typeface="Calibri" pitchFamily="34" charset="-120"/>
              </a:rPr>
              <a:t>EAR &gt; 0.25</a:t>
            </a:r>
            <a:endParaRPr lang="en-US" sz="1500" dirty="0"/>
          </a:p>
        </p:txBody>
      </p:sp>
      <p:sp>
        <p:nvSpPr>
          <p:cNvPr id="5" name="Shape 3"/>
          <p:cNvSpPr/>
          <p:nvPr/>
        </p:nvSpPr>
        <p:spPr>
          <a:xfrm>
            <a:off x="3886200" y="1207008"/>
            <a:ext cx="1828800" cy="1143000"/>
          </a:xfrm>
          <a:prstGeom prst="flowChartDecision">
            <a:avLst/>
          </a:prstGeom>
          <a:solidFill>
            <a:srgbClr val="EAF7FC"/>
          </a:solidFill>
          <a:ln w="12700">
            <a:solidFill>
              <a:srgbClr val="00C2FF"/>
            </a:solidFill>
            <a:prstDash val="solid"/>
          </a:ln>
        </p:spPr>
      </p:sp>
      <p:sp>
        <p:nvSpPr>
          <p:cNvPr id="6" name="Text 4"/>
          <p:cNvSpPr/>
          <p:nvPr/>
        </p:nvSpPr>
        <p:spPr>
          <a:xfrm>
            <a:off x="4160520" y="1591056"/>
            <a:ext cx="1280160" cy="347472"/>
          </a:xfrm>
          <a:prstGeom prst="rect">
            <a:avLst/>
          </a:prstGeom>
          <a:noFill/>
          <a:ln/>
        </p:spPr>
        <p:txBody>
          <a:bodyPr wrap="square" lIns="0" tIns="0" rIns="0" bIns="0" rtlCol="0" anchor="ctr"/>
          <a:lstStyle/>
          <a:p>
            <a:pPr algn="ctr" indent="0" marL="0">
              <a:buNone/>
            </a:pPr>
            <a:r>
              <a:rPr lang="en-US" sz="1500" b="1" dirty="0">
                <a:solidFill>
                  <a:srgbClr val="0D1B2A"/>
                </a:solidFill>
                <a:latin typeface="Calibri" pitchFamily="34" charset="0"/>
                <a:ea typeface="Calibri" pitchFamily="34" charset="-122"/>
                <a:cs typeface="Calibri" pitchFamily="34" charset="-120"/>
              </a:rPr>
              <a:t>Blink?</a:t>
            </a:r>
            <a:endParaRPr lang="en-US" sz="1500" dirty="0"/>
          </a:p>
          <a:p>
            <a:pPr algn="ctr" indent="0" marL="0">
              <a:buNone/>
            </a:pPr>
            <a:r>
              <a:rPr lang="en-US" sz="1500" b="1" dirty="0">
                <a:solidFill>
                  <a:srgbClr val="0D1B2A"/>
                </a:solidFill>
                <a:latin typeface="Calibri" pitchFamily="34" charset="0"/>
                <a:ea typeface="Calibri" pitchFamily="34" charset="-122"/>
                <a:cs typeface="Calibri" pitchFamily="34" charset="-120"/>
              </a:rPr>
              <a:t>EAR &lt; 0.20</a:t>
            </a:r>
            <a:endParaRPr lang="en-US" sz="1500" dirty="0"/>
          </a:p>
        </p:txBody>
      </p:sp>
      <p:sp>
        <p:nvSpPr>
          <p:cNvPr id="7" name="Shape 5"/>
          <p:cNvSpPr/>
          <p:nvPr/>
        </p:nvSpPr>
        <p:spPr>
          <a:xfrm>
            <a:off x="6537960" y="1325880"/>
            <a:ext cx="2194560" cy="914400"/>
          </a:xfrm>
          <a:prstGeom prst="flowChartPreparation">
            <a:avLst/>
          </a:prstGeom>
          <a:solidFill>
            <a:srgbClr val="EAF7FC"/>
          </a:solidFill>
          <a:ln w="12700">
            <a:solidFill>
              <a:srgbClr val="00C2FF"/>
            </a:solidFill>
            <a:prstDash val="solid"/>
          </a:ln>
        </p:spPr>
      </p:sp>
      <p:sp>
        <p:nvSpPr>
          <p:cNvPr id="8" name="Text 6"/>
          <p:cNvSpPr/>
          <p:nvPr/>
        </p:nvSpPr>
        <p:spPr>
          <a:xfrm>
            <a:off x="6720840" y="1600200"/>
            <a:ext cx="1828800" cy="347472"/>
          </a:xfrm>
          <a:prstGeom prst="rect">
            <a:avLst/>
          </a:prstGeom>
          <a:noFill/>
          <a:ln/>
        </p:spPr>
        <p:txBody>
          <a:bodyPr wrap="square" lIns="0" tIns="0" rIns="0" bIns="0" rtlCol="0" anchor="ctr"/>
          <a:lstStyle/>
          <a:p>
            <a:pPr algn="ctr" indent="0" marL="0">
              <a:buNone/>
            </a:pPr>
            <a:r>
              <a:rPr lang="en-US" sz="1500" b="1" dirty="0">
                <a:solidFill>
                  <a:srgbClr val="0D1B2A"/>
                </a:solidFill>
                <a:latin typeface="Calibri" pitchFamily="34" charset="0"/>
                <a:ea typeface="Calibri" pitchFamily="34" charset="-122"/>
                <a:cs typeface="Calibri" pitchFamily="34" charset="-120"/>
              </a:rPr>
              <a:t>Tilt guard</a:t>
            </a:r>
            <a:endParaRPr lang="en-US" sz="1500" dirty="0"/>
          </a:p>
          <a:p>
            <a:pPr algn="ctr" indent="0" marL="0">
              <a:buNone/>
            </a:pPr>
            <a:r>
              <a:rPr lang="en-US" sz="1500" b="1" dirty="0">
                <a:solidFill>
                  <a:srgbClr val="0D1B2A"/>
                </a:solidFill>
                <a:latin typeface="Calibri" pitchFamily="34" charset="0"/>
                <a:ea typeface="Calibri" pitchFamily="34" charset="-122"/>
                <a:cs typeface="Calibri" pitchFamily="34" charset="-120"/>
              </a:rPr>
              <a:t>height &gt; 90%</a:t>
            </a:r>
            <a:endParaRPr lang="en-US" sz="1500" dirty="0"/>
          </a:p>
        </p:txBody>
      </p:sp>
      <p:sp>
        <p:nvSpPr>
          <p:cNvPr id="9" name="Shape 7"/>
          <p:cNvSpPr/>
          <p:nvPr/>
        </p:nvSpPr>
        <p:spPr>
          <a:xfrm>
            <a:off x="9235440" y="1325880"/>
            <a:ext cx="1828800" cy="914400"/>
          </a:xfrm>
          <a:prstGeom prst="flowChartTerminator">
            <a:avLst/>
          </a:prstGeom>
          <a:solidFill>
            <a:srgbClr val="2ECC71"/>
          </a:solidFill>
          <a:ln w="12700">
            <a:solidFill>
              <a:srgbClr val="2ECC71"/>
            </a:solidFill>
            <a:prstDash val="solid"/>
          </a:ln>
        </p:spPr>
      </p:sp>
      <p:sp>
        <p:nvSpPr>
          <p:cNvPr id="10" name="Text 8"/>
          <p:cNvSpPr/>
          <p:nvPr/>
        </p:nvSpPr>
        <p:spPr>
          <a:xfrm>
            <a:off x="9555480" y="1627632"/>
            <a:ext cx="1188720" cy="2743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LIVE</a:t>
            </a:r>
            <a:endParaRPr lang="en-US" sz="1800" dirty="0"/>
          </a:p>
        </p:txBody>
      </p:sp>
      <p:sp>
        <p:nvSpPr>
          <p:cNvPr id="11" name="Shape 9"/>
          <p:cNvSpPr/>
          <p:nvPr/>
        </p:nvSpPr>
        <p:spPr>
          <a:xfrm>
            <a:off x="3063240" y="1783080"/>
            <a:ext cx="822960" cy="0"/>
          </a:xfrm>
          <a:prstGeom prst="line">
            <a:avLst/>
          </a:prstGeom>
          <a:noFill/>
          <a:ln w="25400">
            <a:solidFill>
              <a:srgbClr val="00C2FF"/>
            </a:solidFill>
            <a:prstDash val="solid"/>
            <a:headEnd type="none"/>
            <a:tailEnd type="triangle"/>
          </a:ln>
        </p:spPr>
      </p:sp>
      <p:sp>
        <p:nvSpPr>
          <p:cNvPr id="12" name="Shape 10"/>
          <p:cNvSpPr/>
          <p:nvPr/>
        </p:nvSpPr>
        <p:spPr>
          <a:xfrm>
            <a:off x="5715000" y="1783080"/>
            <a:ext cx="822960" cy="0"/>
          </a:xfrm>
          <a:prstGeom prst="line">
            <a:avLst/>
          </a:prstGeom>
          <a:noFill/>
          <a:ln w="25400">
            <a:solidFill>
              <a:srgbClr val="00C2FF"/>
            </a:solidFill>
            <a:prstDash val="solid"/>
            <a:headEnd type="none"/>
            <a:tailEnd type="triangle"/>
          </a:ln>
        </p:spPr>
      </p:sp>
      <p:sp>
        <p:nvSpPr>
          <p:cNvPr id="13" name="Shape 11"/>
          <p:cNvSpPr/>
          <p:nvPr/>
        </p:nvSpPr>
        <p:spPr>
          <a:xfrm>
            <a:off x="8732520" y="1783080"/>
            <a:ext cx="502920" cy="0"/>
          </a:xfrm>
          <a:prstGeom prst="line">
            <a:avLst/>
          </a:prstGeom>
          <a:noFill/>
          <a:ln w="25400">
            <a:solidFill>
              <a:srgbClr val="00C2FF"/>
            </a:solidFill>
            <a:prstDash val="solid"/>
            <a:headEnd type="none"/>
            <a:tailEnd type="triangle"/>
          </a:ln>
        </p:spPr>
      </p:sp>
      <p:sp>
        <p:nvSpPr>
          <p:cNvPr id="14" name="Text 12"/>
          <p:cNvSpPr/>
          <p:nvPr/>
        </p:nvSpPr>
        <p:spPr>
          <a:xfrm>
            <a:off x="1097280" y="3749040"/>
            <a:ext cx="9875520" cy="914400"/>
          </a:xfrm>
          <a:prstGeom prst="rect">
            <a:avLst/>
          </a:prstGeom>
          <a:noFill/>
          <a:ln/>
        </p:spPr>
        <p:txBody>
          <a:bodyPr wrap="square" lIns="635" tIns="635" rIns="635" bIns="635" rtlCol="0" anchor="ctr">
            <a:normAutofit/>
          </a:bodyPr>
          <a:lstStyle/>
          <a:p>
            <a:r>
              <a:rPr lang="en-US" sz="1600" dirty="0">
                <a:solidFill>
                  <a:srgbClr val="172033"/>
                </a:solidFill>
                <a:latin typeface="Calibri" pitchFamily="34" charset="0"/>
                <a:ea typeface="Calibri" pitchFamily="34" charset="-122"/>
                <a:cs typeface="Calibri" pitchFamily="34" charset="-120"/>
              </a:rPr>
              <a:t>Implemented liveness mode: blink only.</a:t>
            </a:r>
            <a:endParaRPr lang="en-US" sz="1600" dirty="0"/>
          </a:p>
          <a:p>
            <a:r>
              <a:rPr lang="en-US" sz="1600" dirty="0">
                <a:solidFill>
                  <a:srgbClr val="172033"/>
                </a:solidFill>
                <a:latin typeface="Calibri" pitchFamily="34" charset="0"/>
                <a:ea typeface="Calibri" pitchFamily="34" charset="-122"/>
                <a:cs typeface="Calibri" pitchFamily="34" charset="-120"/>
              </a:rPr>
              <a:t>Smile and head-turn liveness are not present in the scanned source.</a:t>
            </a:r>
            <a:endParaRPr lang="en-US" sz="1600" dirty="0"/>
          </a:p>
          <a:p>
            <a:r>
              <a:rPr lang="en-US" sz="1600" dirty="0">
                <a:solidFill>
                  <a:srgbClr val="172033"/>
                </a:solidFill>
                <a:latin typeface="Calibri" pitchFamily="34" charset="0"/>
                <a:ea typeface="Calibri" pitchFamily="34" charset="-122"/>
                <a:cs typeface="Calibri" pitchFamily="34" charset="-120"/>
              </a:rPr>
              <a:t>If no face is seen for more than 15 frames, liveness resets.</a:t>
            </a:r>
            <a:endParaRPr lang="en-US" sz="1600" dirty="0"/>
          </a:p>
        </p:txBody>
      </p:sp>
      <p:sp>
        <p:nvSpPr>
          <p:cNvPr id="15" name="Shape 13"/>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16" name="Text 14"/>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blink state machine</a:t>
            </a:r>
            <a:endParaRPr lang="en-US" sz="1000" dirty="0"/>
          </a:p>
        </p:txBody>
      </p:sp>
      <p:sp>
        <p:nvSpPr>
          <p:cNvPr id="17" name="Text 15"/>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6/14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Offline Capability</a:t>
            </a:r>
            <a:endParaRPr lang="en-US" sz="3600" dirty="0"/>
          </a:p>
        </p:txBody>
      </p:sp>
      <p:sp>
        <p:nvSpPr>
          <p:cNvPr id="3" name="Shape 1"/>
          <p:cNvSpPr/>
          <p:nvPr/>
        </p:nvSpPr>
        <p:spPr>
          <a:xfrm>
            <a:off x="914400" y="1234440"/>
            <a:ext cx="2011680" cy="1280160"/>
          </a:xfrm>
          <a:prstGeom prst="roundRect">
            <a:avLst>
              <a:gd name="adj" fmla="val 5714"/>
            </a:avLst>
          </a:prstGeom>
          <a:solidFill>
            <a:srgbClr val="EAF7FC"/>
          </a:solidFill>
          <a:ln w="12700">
            <a:solidFill>
              <a:srgbClr val="00C2FF"/>
            </a:solidFill>
            <a:prstDash val="solid"/>
          </a:ln>
        </p:spPr>
      </p:sp>
      <p:sp>
        <p:nvSpPr>
          <p:cNvPr id="4" name="Text 2"/>
          <p:cNvSpPr/>
          <p:nvPr/>
        </p:nvSpPr>
        <p:spPr>
          <a:xfrm>
            <a:off x="1143000" y="1600200"/>
            <a:ext cx="1554480" cy="41148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In-memory</a:t>
            </a:r>
            <a:endParaRPr lang="en-US" sz="1400" dirty="0"/>
          </a:p>
          <a:p>
            <a:pPr algn="ctr" indent="0" marL="0">
              <a:buNone/>
            </a:pPr>
            <a:r>
              <a:rPr lang="en-US" sz="1400" b="1" dirty="0">
                <a:solidFill>
                  <a:srgbClr val="0D1B2A"/>
                </a:solidFill>
                <a:latin typeface="Calibri" pitchFamily="34" charset="0"/>
                <a:ea typeface="Calibri" pitchFamily="34" charset="-122"/>
                <a:cs typeface="Calibri" pitchFamily="34" charset="-120"/>
              </a:rPr>
              <a:t>reference embedding</a:t>
            </a:r>
            <a:endParaRPr lang="en-US" sz="1400" dirty="0"/>
          </a:p>
        </p:txBody>
      </p:sp>
      <p:sp>
        <p:nvSpPr>
          <p:cNvPr id="5" name="Shape 3"/>
          <p:cNvSpPr/>
          <p:nvPr/>
        </p:nvSpPr>
        <p:spPr>
          <a:xfrm>
            <a:off x="8001000" y="1143000"/>
            <a:ext cx="2194560" cy="1371600"/>
          </a:xfrm>
          <a:prstGeom prst="roundRect">
            <a:avLst>
              <a:gd name="adj" fmla="val 5333"/>
            </a:avLst>
          </a:prstGeom>
          <a:solidFill>
            <a:srgbClr val="F8E9E9"/>
          </a:solidFill>
          <a:ln w="12700">
            <a:solidFill>
              <a:srgbClr val="E74C3C"/>
            </a:solidFill>
            <a:prstDash val="solid"/>
          </a:ln>
        </p:spPr>
      </p:sp>
      <p:sp>
        <p:nvSpPr>
          <p:cNvPr id="6" name="Text 4"/>
          <p:cNvSpPr/>
          <p:nvPr/>
        </p:nvSpPr>
        <p:spPr>
          <a:xfrm>
            <a:off x="8430768" y="1627632"/>
            <a:ext cx="1280160" cy="320040"/>
          </a:xfrm>
          <a:prstGeom prst="rect">
            <a:avLst/>
          </a:prstGeom>
          <a:noFill/>
          <a:ln/>
        </p:spPr>
        <p:txBody>
          <a:bodyPr wrap="square" lIns="0" tIns="0" rIns="0" bIns="0" rtlCol="0" anchor="ctr"/>
          <a:lstStyle/>
          <a:p>
            <a:pPr algn="ctr" indent="0" marL="0">
              <a:buNone/>
            </a:pPr>
            <a:r>
              <a:rPr lang="en-US" sz="1500" b="1" dirty="0">
                <a:solidFill>
                  <a:srgbClr val="E74C3C"/>
                </a:solidFill>
                <a:latin typeface="Calibri" pitchFamily="34" charset="0"/>
                <a:ea typeface="Calibri" pitchFamily="34" charset="-122"/>
                <a:cs typeface="Calibri" pitchFamily="34" charset="-120"/>
              </a:rPr>
              <a:t>SQLite</a:t>
            </a:r>
            <a:endParaRPr lang="en-US" sz="1500" dirty="0"/>
          </a:p>
          <a:p>
            <a:pPr algn="ctr" indent="0" marL="0">
              <a:buNone/>
            </a:pPr>
            <a:r>
              <a:rPr lang="en-US" sz="1500" b="1" dirty="0">
                <a:solidFill>
                  <a:srgbClr val="E74C3C"/>
                </a:solidFill>
                <a:latin typeface="Calibri" pitchFamily="34" charset="0"/>
                <a:ea typeface="Calibri" pitchFamily="34" charset="-122"/>
                <a:cs typeface="Calibri" pitchFamily="34" charset="-120"/>
              </a:rPr>
              <a:t>not found</a:t>
            </a:r>
            <a:endParaRPr lang="en-US" sz="1500" dirty="0"/>
          </a:p>
        </p:txBody>
      </p:sp>
      <p:sp>
        <p:nvSpPr>
          <p:cNvPr id="7" name="Shape 5"/>
          <p:cNvSpPr/>
          <p:nvPr/>
        </p:nvSpPr>
        <p:spPr>
          <a:xfrm>
            <a:off x="2926080" y="1874520"/>
            <a:ext cx="5074920" cy="0"/>
          </a:xfrm>
          <a:prstGeom prst="line">
            <a:avLst/>
          </a:prstGeom>
          <a:noFill/>
          <a:ln w="25400">
            <a:solidFill>
              <a:srgbClr val="00C2FF"/>
            </a:solidFill>
            <a:prstDash val="solid"/>
            <a:headEnd type="none"/>
            <a:tailEnd type="triangle"/>
          </a:ln>
        </p:spPr>
      </p:sp>
      <p:sp>
        <p:nvSpPr>
          <p:cNvPr id="8" name="Text 6"/>
          <p:cNvSpPr/>
          <p:nvPr/>
        </p:nvSpPr>
        <p:spPr>
          <a:xfrm>
            <a:off x="914400" y="3749040"/>
            <a:ext cx="9966960" cy="1005840"/>
          </a:xfrm>
          <a:prstGeom prst="rect">
            <a:avLst/>
          </a:prstGeom>
          <a:noFill/>
          <a:ln/>
        </p:spPr>
        <p:txBody>
          <a:bodyPr wrap="square" lIns="635" tIns="635" rIns="635" bIns="635" rtlCol="0" anchor="ctr">
            <a:normAutofit/>
          </a:bodyPr>
          <a:lstStyle/>
          <a:p>
            <a:r>
              <a:rPr lang="en-US" sz="1600" dirty="0">
                <a:solidFill>
                  <a:srgbClr val="172033"/>
                </a:solidFill>
                <a:latin typeface="Calibri" pitchFamily="34" charset="0"/>
                <a:ea typeface="Calibri" pitchFamily="34" charset="-122"/>
                <a:cs typeface="Calibri" pitchFamily="34" charset="-120"/>
              </a:rPr>
              <a:t>The code is offline in the sense that webcam inference runs locally.</a:t>
            </a:r>
            <a:endParaRPr lang="en-US" sz="1600" dirty="0"/>
          </a:p>
          <a:p>
            <a:r>
              <a:rPr lang="en-US" sz="1600" dirty="0">
                <a:solidFill>
                  <a:srgbClr val="172033"/>
                </a:solidFill>
                <a:latin typeface="Calibri" pitchFamily="34" charset="0"/>
                <a:ea typeface="Calibri" pitchFamily="34" charset="-122"/>
                <a:cs typeface="Calibri" pitchFamily="34" charset="-120"/>
              </a:rPr>
              <a:t>No SQLite schema, database file, or persistence service exists.</a:t>
            </a:r>
            <a:endParaRPr lang="en-US" sz="1600" dirty="0"/>
          </a:p>
          <a:p>
            <a:r>
              <a:rPr lang="en-US" sz="1600" dirty="0">
                <a:solidFill>
                  <a:srgbClr val="172033"/>
                </a:solidFill>
                <a:latin typeface="Calibri" pitchFamily="34" charset="0"/>
                <a:ea typeface="Calibri" pitchFamily="34" charset="-122"/>
                <a:cs typeface="Calibri" pitchFamily="34" charset="-120"/>
              </a:rPr>
              <a:t>The reference face embedding is stored only in process memory.</a:t>
            </a:r>
            <a:endParaRPr lang="en-US" sz="1600" dirty="0"/>
          </a:p>
        </p:txBody>
      </p:sp>
      <p:sp>
        <p:nvSpPr>
          <p:cNvPr id="9" name="Shape 7"/>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10" name="Text 8"/>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local-first, not database-backed</a:t>
            </a:r>
            <a:endParaRPr lang="en-US" sz="1000" dirty="0"/>
          </a:p>
        </p:txBody>
      </p:sp>
      <p:sp>
        <p:nvSpPr>
          <p:cNvPr id="11" name="Text 9"/>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7/14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AWS Sync Mechanism</a:t>
            </a:r>
            <a:endParaRPr lang="en-US" sz="3600" dirty="0"/>
          </a:p>
        </p:txBody>
      </p:sp>
      <p:sp>
        <p:nvSpPr>
          <p:cNvPr id="3" name="Shape 1"/>
          <p:cNvSpPr/>
          <p:nvPr/>
        </p:nvSpPr>
        <p:spPr>
          <a:xfrm>
            <a:off x="822960" y="1280160"/>
            <a:ext cx="2834640" cy="1463040"/>
          </a:xfrm>
          <a:prstGeom prst="roundRect">
            <a:avLst>
              <a:gd name="adj" fmla="val 5000"/>
            </a:avLst>
          </a:prstGeom>
          <a:solidFill>
            <a:srgbClr val="F8E9E9"/>
          </a:solidFill>
          <a:ln w="12700">
            <a:solidFill>
              <a:srgbClr val="BFD7E3">
                <a:alpha val="80000"/>
              </a:srgbClr>
            </a:solidFill>
            <a:prstDash val="solid"/>
          </a:ln>
        </p:spPr>
      </p:sp>
      <p:sp>
        <p:nvSpPr>
          <p:cNvPr id="4" name="Text 2"/>
          <p:cNvSpPr/>
          <p:nvPr/>
        </p:nvSpPr>
        <p:spPr>
          <a:xfrm>
            <a:off x="987552" y="1426464"/>
            <a:ext cx="250545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Queue</a:t>
            </a:r>
            <a:endParaRPr lang="en-US" sz="1500" dirty="0"/>
          </a:p>
        </p:txBody>
      </p:sp>
      <p:sp>
        <p:nvSpPr>
          <p:cNvPr id="5" name="Text 3"/>
          <p:cNvSpPr/>
          <p:nvPr/>
        </p:nvSpPr>
        <p:spPr>
          <a:xfrm>
            <a:off x="987552" y="1755648"/>
            <a:ext cx="2505456" cy="86868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No queue implementation exists in the scanned files.</a:t>
            </a:r>
            <a:endParaRPr lang="en-US" sz="1200" dirty="0"/>
          </a:p>
        </p:txBody>
      </p:sp>
      <p:sp>
        <p:nvSpPr>
          <p:cNvPr id="6" name="Shape 4"/>
          <p:cNvSpPr/>
          <p:nvPr/>
        </p:nvSpPr>
        <p:spPr>
          <a:xfrm>
            <a:off x="4572000" y="1280160"/>
            <a:ext cx="2834640" cy="1463040"/>
          </a:xfrm>
          <a:prstGeom prst="roundRect">
            <a:avLst>
              <a:gd name="adj" fmla="val 5000"/>
            </a:avLst>
          </a:prstGeom>
          <a:solidFill>
            <a:srgbClr val="F8E9E9"/>
          </a:solidFill>
          <a:ln w="12700">
            <a:solidFill>
              <a:srgbClr val="BFD7E3">
                <a:alpha val="80000"/>
              </a:srgbClr>
            </a:solidFill>
            <a:prstDash val="solid"/>
          </a:ln>
        </p:spPr>
      </p:sp>
      <p:sp>
        <p:nvSpPr>
          <p:cNvPr id="7" name="Text 5"/>
          <p:cNvSpPr/>
          <p:nvPr/>
        </p:nvSpPr>
        <p:spPr>
          <a:xfrm>
            <a:off x="4736592" y="1426464"/>
            <a:ext cx="250545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Upload</a:t>
            </a:r>
            <a:endParaRPr lang="en-US" sz="1500" dirty="0"/>
          </a:p>
        </p:txBody>
      </p:sp>
      <p:sp>
        <p:nvSpPr>
          <p:cNvPr id="8" name="Text 6"/>
          <p:cNvSpPr/>
          <p:nvPr/>
        </p:nvSpPr>
        <p:spPr>
          <a:xfrm>
            <a:off x="4736592" y="1755648"/>
            <a:ext cx="2505456" cy="86868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No AWS SDK, boto3, HTTP API client, or SyncService exists.</a:t>
            </a:r>
            <a:endParaRPr lang="en-US" sz="1200" dirty="0"/>
          </a:p>
        </p:txBody>
      </p:sp>
      <p:sp>
        <p:nvSpPr>
          <p:cNvPr id="9" name="Shape 7"/>
          <p:cNvSpPr/>
          <p:nvPr/>
        </p:nvSpPr>
        <p:spPr>
          <a:xfrm>
            <a:off x="8321040" y="1280160"/>
            <a:ext cx="2834640" cy="1463040"/>
          </a:xfrm>
          <a:prstGeom prst="roundRect">
            <a:avLst>
              <a:gd name="adj" fmla="val 5000"/>
            </a:avLst>
          </a:prstGeom>
          <a:solidFill>
            <a:srgbClr val="F8E9E9"/>
          </a:solidFill>
          <a:ln w="12700">
            <a:solidFill>
              <a:srgbClr val="BFD7E3">
                <a:alpha val="80000"/>
              </a:srgbClr>
            </a:solidFill>
            <a:prstDash val="solid"/>
          </a:ln>
        </p:spPr>
      </p:sp>
      <p:sp>
        <p:nvSpPr>
          <p:cNvPr id="10" name="Text 8"/>
          <p:cNvSpPr/>
          <p:nvPr/>
        </p:nvSpPr>
        <p:spPr>
          <a:xfrm>
            <a:off x="8485632" y="1426464"/>
            <a:ext cx="250545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Purge</a:t>
            </a:r>
            <a:endParaRPr lang="en-US" sz="1500" dirty="0"/>
          </a:p>
        </p:txBody>
      </p:sp>
      <p:sp>
        <p:nvSpPr>
          <p:cNvPr id="11" name="Text 9"/>
          <p:cNvSpPr/>
          <p:nvPr/>
        </p:nvSpPr>
        <p:spPr>
          <a:xfrm>
            <a:off x="8485632" y="1755648"/>
            <a:ext cx="2505456" cy="86868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No purge job, retention task, or cloud deletion flow exists.</a:t>
            </a:r>
            <a:endParaRPr lang="en-US" sz="1200" dirty="0"/>
          </a:p>
        </p:txBody>
      </p:sp>
      <p:sp>
        <p:nvSpPr>
          <p:cNvPr id="12" name="Shape 10"/>
          <p:cNvSpPr/>
          <p:nvPr/>
        </p:nvSpPr>
        <p:spPr>
          <a:xfrm>
            <a:off x="3657600" y="2011680"/>
            <a:ext cx="914400" cy="0"/>
          </a:xfrm>
          <a:prstGeom prst="line">
            <a:avLst/>
          </a:prstGeom>
          <a:noFill/>
          <a:ln w="25400">
            <a:solidFill>
              <a:srgbClr val="00C2FF"/>
            </a:solidFill>
            <a:prstDash val="solid"/>
            <a:headEnd type="none"/>
            <a:tailEnd type="triangle"/>
          </a:ln>
        </p:spPr>
      </p:sp>
      <p:sp>
        <p:nvSpPr>
          <p:cNvPr id="13" name="Shape 11"/>
          <p:cNvSpPr/>
          <p:nvPr/>
        </p:nvSpPr>
        <p:spPr>
          <a:xfrm>
            <a:off x="7406640" y="2011680"/>
            <a:ext cx="914400" cy="0"/>
          </a:xfrm>
          <a:prstGeom prst="line">
            <a:avLst/>
          </a:prstGeom>
          <a:noFill/>
          <a:ln w="25400">
            <a:solidFill>
              <a:srgbClr val="00C2FF"/>
            </a:solidFill>
            <a:prstDash val="solid"/>
            <a:headEnd type="none"/>
            <a:tailEnd type="triangle"/>
          </a:ln>
        </p:spPr>
      </p:sp>
      <p:sp>
        <p:nvSpPr>
          <p:cNvPr id="14" name="Text 12"/>
          <p:cNvSpPr/>
          <p:nvPr/>
        </p:nvSpPr>
        <p:spPr>
          <a:xfrm>
            <a:off x="1143000" y="4023360"/>
            <a:ext cx="2926080" cy="685800"/>
          </a:xfrm>
          <a:prstGeom prst="rect">
            <a:avLst/>
          </a:prstGeom>
          <a:noFill/>
          <a:ln/>
        </p:spPr>
        <p:txBody>
          <a:bodyPr wrap="square" lIns="0" tIns="0" rIns="0" bIns="0" rtlCol="0" anchor="ctr">
            <a:normAutofit/>
          </a:bodyPr>
          <a:lstStyle/>
          <a:p>
            <a:pPr algn="ctr" indent="0" marL="0">
              <a:buNone/>
            </a:pPr>
            <a:r>
              <a:rPr lang="en-US" sz="6000" b="1" dirty="0">
                <a:solidFill>
                  <a:srgbClr val="E74C3C"/>
                </a:solidFill>
                <a:latin typeface="Calibri" pitchFamily="34" charset="0"/>
                <a:ea typeface="Calibri" pitchFamily="34" charset="-122"/>
                <a:cs typeface="Calibri" pitchFamily="34" charset="-120"/>
              </a:rPr>
              <a:t>0</a:t>
            </a:r>
            <a:endParaRPr lang="en-US" sz="6000" dirty="0"/>
          </a:p>
        </p:txBody>
      </p:sp>
      <p:sp>
        <p:nvSpPr>
          <p:cNvPr id="15" name="Text 13"/>
          <p:cNvSpPr/>
          <p:nvPr/>
        </p:nvSpPr>
        <p:spPr>
          <a:xfrm>
            <a:off x="1143000" y="4736592"/>
            <a:ext cx="292608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AWS services found</a:t>
            </a:r>
            <a:endParaRPr lang="en-US" sz="1400" dirty="0"/>
          </a:p>
        </p:txBody>
      </p:sp>
      <p:sp>
        <p:nvSpPr>
          <p:cNvPr id="16" name="Text 14"/>
          <p:cNvSpPr/>
          <p:nvPr/>
        </p:nvSpPr>
        <p:spPr>
          <a:xfrm>
            <a:off x="4617720" y="4023360"/>
            <a:ext cx="2926080" cy="685800"/>
          </a:xfrm>
          <a:prstGeom prst="rect">
            <a:avLst/>
          </a:prstGeom>
          <a:noFill/>
          <a:ln/>
        </p:spPr>
        <p:txBody>
          <a:bodyPr wrap="square" lIns="0" tIns="0" rIns="0" bIns="0" rtlCol="0" anchor="ctr">
            <a:normAutofit/>
          </a:bodyPr>
          <a:lstStyle/>
          <a:p>
            <a:pPr algn="ctr" indent="0" marL="0">
              <a:buNone/>
            </a:pPr>
            <a:r>
              <a:rPr lang="en-US" sz="6000" b="1" dirty="0">
                <a:solidFill>
                  <a:srgbClr val="E74C3C"/>
                </a:solidFill>
                <a:latin typeface="Calibri" pitchFamily="34" charset="0"/>
                <a:ea typeface="Calibri" pitchFamily="34" charset="-122"/>
                <a:cs typeface="Calibri" pitchFamily="34" charset="-120"/>
              </a:rPr>
              <a:t>0</a:t>
            </a:r>
            <a:endParaRPr lang="en-US" sz="6000" dirty="0"/>
          </a:p>
        </p:txBody>
      </p:sp>
      <p:sp>
        <p:nvSpPr>
          <p:cNvPr id="17" name="Text 15"/>
          <p:cNvSpPr/>
          <p:nvPr/>
        </p:nvSpPr>
        <p:spPr>
          <a:xfrm>
            <a:off x="4617720" y="4736592"/>
            <a:ext cx="292608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SQLite tables found</a:t>
            </a:r>
            <a:endParaRPr lang="en-US" sz="1400" dirty="0"/>
          </a:p>
        </p:txBody>
      </p:sp>
      <p:sp>
        <p:nvSpPr>
          <p:cNvPr id="18" name="Text 16"/>
          <p:cNvSpPr/>
          <p:nvPr/>
        </p:nvSpPr>
        <p:spPr>
          <a:xfrm>
            <a:off x="8092440" y="4023360"/>
            <a:ext cx="2926080" cy="685800"/>
          </a:xfrm>
          <a:prstGeom prst="rect">
            <a:avLst/>
          </a:prstGeom>
          <a:noFill/>
          <a:ln/>
        </p:spPr>
        <p:txBody>
          <a:bodyPr wrap="square" lIns="0" tIns="0" rIns="0" bIns="0" rtlCol="0" anchor="ctr">
            <a:normAutofit/>
          </a:bodyPr>
          <a:lstStyle/>
          <a:p>
            <a:pPr algn="ctr" indent="0" marL="0">
              <a:buNone/>
            </a:pPr>
            <a:r>
              <a:rPr lang="en-US" sz="6000" b="1" dirty="0">
                <a:solidFill>
                  <a:srgbClr val="E74C3C"/>
                </a:solidFill>
                <a:latin typeface="Calibri" pitchFamily="34" charset="0"/>
                <a:ea typeface="Calibri" pitchFamily="34" charset="-122"/>
                <a:cs typeface="Calibri" pitchFamily="34" charset="-120"/>
              </a:rPr>
              <a:t>0</a:t>
            </a:r>
            <a:endParaRPr lang="en-US" sz="6000" dirty="0"/>
          </a:p>
        </p:txBody>
      </p:sp>
      <p:sp>
        <p:nvSpPr>
          <p:cNvPr id="19" name="Text 17"/>
          <p:cNvSpPr/>
          <p:nvPr/>
        </p:nvSpPr>
        <p:spPr>
          <a:xfrm>
            <a:off x="8092440" y="4736592"/>
            <a:ext cx="292608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service files found</a:t>
            </a:r>
            <a:endParaRPr lang="en-US" sz="1400" dirty="0"/>
          </a:p>
        </p:txBody>
      </p:sp>
      <p:sp>
        <p:nvSpPr>
          <p:cNvPr id="20" name="Shape 18"/>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21" name="Text 19"/>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requested architecture absent</a:t>
            </a:r>
            <a:endParaRPr lang="en-US" sz="1000" dirty="0"/>
          </a:p>
        </p:txBody>
      </p:sp>
      <p:sp>
        <p:nvSpPr>
          <p:cNvPr id="22" name="Text 20"/>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8/14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Performance Benchmarks</a:t>
            </a:r>
            <a:endParaRPr lang="en-US" sz="3600" dirty="0"/>
          </a:p>
        </p:txBody>
      </p:sp>
      <p:sp>
        <p:nvSpPr>
          <p:cNvPr id="3" name="Text 1"/>
          <p:cNvSpPr/>
          <p:nvPr/>
        </p:nvSpPr>
        <p:spPr>
          <a:xfrm>
            <a:off x="731520" y="1325880"/>
            <a:ext cx="2743200" cy="685800"/>
          </a:xfrm>
          <a:prstGeom prst="rect">
            <a:avLst/>
          </a:prstGeom>
          <a:noFill/>
          <a:ln/>
        </p:spPr>
        <p:txBody>
          <a:bodyPr wrap="square" lIns="0" tIns="0" rIns="0" bIns="0" rtlCol="0" anchor="ctr">
            <a:normAutofit/>
          </a:bodyPr>
          <a:lstStyle/>
          <a:p>
            <a:pPr algn="ctr" indent="0" marL="0">
              <a:buNone/>
            </a:pPr>
            <a:r>
              <a:rPr lang="en-US" sz="6000" b="1" dirty="0">
                <a:solidFill>
                  <a:srgbClr val="F4B942"/>
                </a:solidFill>
                <a:latin typeface="Calibri" pitchFamily="34" charset="0"/>
                <a:ea typeface="Calibri" pitchFamily="34" charset="-122"/>
                <a:cs typeface="Calibri" pitchFamily="34" charset="-120"/>
              </a:rPr>
              <a:t>N/A</a:t>
            </a:r>
            <a:endParaRPr lang="en-US" sz="6000" dirty="0"/>
          </a:p>
        </p:txBody>
      </p:sp>
      <p:sp>
        <p:nvSpPr>
          <p:cNvPr id="4" name="Text 2"/>
          <p:cNvSpPr/>
          <p:nvPr/>
        </p:nvSpPr>
        <p:spPr>
          <a:xfrm>
            <a:off x="731520" y="2039112"/>
            <a:ext cx="274320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latency not measured in code</a:t>
            </a:r>
            <a:endParaRPr lang="en-US" sz="1400" dirty="0"/>
          </a:p>
        </p:txBody>
      </p:sp>
      <p:sp>
        <p:nvSpPr>
          <p:cNvPr id="5" name="Text 3"/>
          <p:cNvSpPr/>
          <p:nvPr/>
        </p:nvSpPr>
        <p:spPr>
          <a:xfrm>
            <a:off x="3703320" y="1325880"/>
            <a:ext cx="320040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36.9 MB</a:t>
            </a:r>
            <a:endParaRPr lang="en-US" sz="6000" dirty="0"/>
          </a:p>
        </p:txBody>
      </p:sp>
      <p:sp>
        <p:nvSpPr>
          <p:cNvPr id="6" name="Text 4"/>
          <p:cNvSpPr/>
          <p:nvPr/>
        </p:nvSpPr>
        <p:spPr>
          <a:xfrm>
            <a:off x="3703320" y="2039112"/>
            <a:ext cx="320040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SFace ONNX model</a:t>
            </a:r>
            <a:endParaRPr lang="en-US" sz="1400" dirty="0"/>
          </a:p>
        </p:txBody>
      </p:sp>
      <p:sp>
        <p:nvSpPr>
          <p:cNvPr id="7" name="Text 5"/>
          <p:cNvSpPr/>
          <p:nvPr/>
        </p:nvSpPr>
        <p:spPr>
          <a:xfrm>
            <a:off x="7498080" y="1325880"/>
            <a:ext cx="338328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99.31%</a:t>
            </a:r>
            <a:endParaRPr lang="en-US" sz="6000" dirty="0"/>
          </a:p>
        </p:txBody>
      </p:sp>
      <p:sp>
        <p:nvSpPr>
          <p:cNvPr id="8" name="Text 6"/>
          <p:cNvSpPr/>
          <p:nvPr/>
        </p:nvSpPr>
        <p:spPr>
          <a:xfrm>
            <a:off x="7498080" y="2039112"/>
            <a:ext cx="338328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accuracy comment for SFace threshold</a:t>
            </a:r>
            <a:endParaRPr lang="en-US" sz="1400" dirty="0"/>
          </a:p>
        </p:txBody>
      </p:sp>
      <p:sp>
        <p:nvSpPr>
          <p:cNvPr id="9" name="Shape 7"/>
          <p:cNvSpPr/>
          <p:nvPr/>
        </p:nvSpPr>
        <p:spPr>
          <a:xfrm>
            <a:off x="914400" y="3749040"/>
            <a:ext cx="9875520" cy="0"/>
          </a:xfrm>
          <a:prstGeom prst="line">
            <a:avLst/>
          </a:prstGeom>
          <a:noFill/>
          <a:ln w="15240">
            <a:solidFill>
              <a:srgbClr val="BFD7E3"/>
            </a:solidFill>
            <a:prstDash val="solid"/>
          </a:ln>
        </p:spPr>
      </p:sp>
      <p:sp>
        <p:nvSpPr>
          <p:cNvPr id="10" name="Text 8"/>
          <p:cNvSpPr/>
          <p:nvPr/>
        </p:nvSpPr>
        <p:spPr>
          <a:xfrm>
            <a:off x="960120" y="4251960"/>
            <a:ext cx="9875520" cy="914400"/>
          </a:xfrm>
          <a:prstGeom prst="rect">
            <a:avLst/>
          </a:prstGeom>
          <a:noFill/>
          <a:ln/>
        </p:spPr>
        <p:txBody>
          <a:bodyPr wrap="square" lIns="635" tIns="635" rIns="635" bIns="635" rtlCol="0" anchor="ctr">
            <a:normAutofit/>
          </a:bodyPr>
          <a:lstStyle/>
          <a:p>
            <a:r>
              <a:rPr lang="en-US" sz="1600" dirty="0">
                <a:solidFill>
                  <a:srgbClr val="172033"/>
                </a:solidFill>
                <a:latin typeface="Calibri" pitchFamily="34" charset="0"/>
                <a:ea typeface="Calibri" pitchFamily="34" charset="-122"/>
                <a:cs typeface="Calibri" pitchFamily="34" charset="-120"/>
              </a:rPr>
              <a:t>Requested &lt; 1 sec latency is not present as a measured benchmark.</a:t>
            </a:r>
            <a:endParaRPr lang="en-US" sz="1600" dirty="0"/>
          </a:p>
          <a:p>
            <a:r>
              <a:rPr lang="en-US" sz="1600" dirty="0">
                <a:solidFill>
                  <a:srgbClr val="172033"/>
                </a:solidFill>
                <a:latin typeface="Calibri" pitchFamily="34" charset="0"/>
                <a:ea typeface="Calibri" pitchFamily="34" charset="-122"/>
                <a:cs typeface="Calibri" pitchFamily="34" charset="-120"/>
              </a:rPr>
              <a:t>Requested &lt; 20 MB model target is not met by the current 36.9 MB SFace ONNX file.</a:t>
            </a:r>
            <a:endParaRPr lang="en-US" sz="1600" dirty="0"/>
          </a:p>
          <a:p>
            <a:r>
              <a:rPr lang="en-US" sz="1600" dirty="0">
                <a:solidFill>
                  <a:srgbClr val="172033"/>
                </a:solidFill>
                <a:latin typeface="Calibri" pitchFamily="34" charset="0"/>
                <a:ea typeface="Calibri" pitchFamily="34" charset="-122"/>
                <a:cs typeface="Calibri" pitchFamily="34" charset="-120"/>
              </a:rPr>
              <a:t>Recognition is throttled to every 5 frames for UI responsiveness.</a:t>
            </a:r>
            <a:endParaRPr lang="en-US" sz="1600" dirty="0"/>
          </a:p>
        </p:txBody>
      </p:sp>
      <p:sp>
        <p:nvSpPr>
          <p:cNvPr id="11" name="Shape 9"/>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12" name="Text 10"/>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constants over claims</a:t>
            </a:r>
            <a:endParaRPr lang="en-US" sz="1000" dirty="0"/>
          </a:p>
        </p:txBody>
      </p:sp>
      <p:sp>
        <p:nvSpPr>
          <p:cNvPr id="13" name="Text 11"/>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9/14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Platform Compatibility</a:t>
            </a:r>
            <a:endParaRPr lang="en-US" sz="3600" dirty="0"/>
          </a:p>
        </p:txBody>
      </p:sp>
      <p:sp>
        <p:nvSpPr>
          <p:cNvPr id="3" name="Text 1"/>
          <p:cNvSpPr/>
          <p:nvPr/>
        </p:nvSpPr>
        <p:spPr>
          <a:xfrm>
            <a:off x="777240" y="1234440"/>
            <a:ext cx="292608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Python</a:t>
            </a:r>
            <a:endParaRPr lang="en-US" sz="6000" dirty="0"/>
          </a:p>
        </p:txBody>
      </p:sp>
      <p:sp>
        <p:nvSpPr>
          <p:cNvPr id="4" name="Text 2"/>
          <p:cNvSpPr/>
          <p:nvPr/>
        </p:nvSpPr>
        <p:spPr>
          <a:xfrm>
            <a:off x="777240" y="1947672"/>
            <a:ext cx="292608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desktop app runtime</a:t>
            </a:r>
            <a:endParaRPr lang="en-US" sz="1400" dirty="0"/>
          </a:p>
        </p:txBody>
      </p:sp>
      <p:sp>
        <p:nvSpPr>
          <p:cNvPr id="5" name="Text 3"/>
          <p:cNvSpPr/>
          <p:nvPr/>
        </p:nvSpPr>
        <p:spPr>
          <a:xfrm>
            <a:off x="3749040" y="1234440"/>
            <a:ext cx="329184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3.12-3.14</a:t>
            </a:r>
            <a:endParaRPr lang="en-US" sz="6000" dirty="0"/>
          </a:p>
        </p:txBody>
      </p:sp>
      <p:sp>
        <p:nvSpPr>
          <p:cNvPr id="6" name="Text 4"/>
          <p:cNvSpPr/>
          <p:nvPr/>
        </p:nvSpPr>
        <p:spPr>
          <a:xfrm>
            <a:off x="3749040" y="1947672"/>
            <a:ext cx="329184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README compatibility note</a:t>
            </a:r>
            <a:endParaRPr lang="en-US" sz="1400" dirty="0"/>
          </a:p>
        </p:txBody>
      </p:sp>
      <p:sp>
        <p:nvSpPr>
          <p:cNvPr id="7" name="Text 5"/>
          <p:cNvSpPr/>
          <p:nvPr/>
        </p:nvSpPr>
        <p:spPr>
          <a:xfrm>
            <a:off x="7498080" y="1234440"/>
            <a:ext cx="3108960" cy="685800"/>
          </a:xfrm>
          <a:prstGeom prst="rect">
            <a:avLst/>
          </a:prstGeom>
          <a:noFill/>
          <a:ln/>
        </p:spPr>
        <p:txBody>
          <a:bodyPr wrap="square" lIns="0" tIns="0" rIns="0" bIns="0" rtlCol="0" anchor="ctr">
            <a:normAutofit/>
          </a:bodyPr>
          <a:lstStyle/>
          <a:p>
            <a:pPr algn="ctr" indent="0" marL="0">
              <a:buNone/>
            </a:pPr>
            <a:r>
              <a:rPr lang="en-US" sz="6000" b="1" dirty="0">
                <a:solidFill>
                  <a:srgbClr val="0D1B2A"/>
                </a:solidFill>
                <a:latin typeface="Calibri" pitchFamily="34" charset="0"/>
                <a:ea typeface="Calibri" pitchFamily="34" charset="-122"/>
                <a:cs typeface="Calibri" pitchFamily="34" charset="-120"/>
              </a:rPr>
              <a:t>Tkinter</a:t>
            </a:r>
            <a:endParaRPr lang="en-US" sz="6000" dirty="0"/>
          </a:p>
        </p:txBody>
      </p:sp>
      <p:sp>
        <p:nvSpPr>
          <p:cNvPr id="8" name="Text 6"/>
          <p:cNvSpPr/>
          <p:nvPr/>
        </p:nvSpPr>
        <p:spPr>
          <a:xfrm>
            <a:off x="7498080" y="1947672"/>
            <a:ext cx="3108960" cy="320040"/>
          </a:xfrm>
          <a:prstGeom prst="rect">
            <a:avLst/>
          </a:prstGeom>
          <a:noFill/>
          <a:ln/>
        </p:spPr>
        <p:txBody>
          <a:bodyPr wrap="square" lIns="0" tIns="0" rIns="0" bIns="0" rtlCol="0" anchor="ctr">
            <a:normAutofit/>
          </a:bodyPr>
          <a:lstStyle/>
          <a:p>
            <a:pPr algn="ctr" indent="0" marL="0">
              <a:buNone/>
            </a:pPr>
            <a:r>
              <a:rPr lang="en-US" sz="1400" b="1" dirty="0">
                <a:solidFill>
                  <a:srgbClr val="5D6B7A"/>
                </a:solidFill>
                <a:latin typeface="Calibri" pitchFamily="34" charset="0"/>
                <a:ea typeface="Calibri" pitchFamily="34" charset="-122"/>
                <a:cs typeface="Calibri" pitchFamily="34" charset="-120"/>
              </a:rPr>
              <a:t>native desktop UI</a:t>
            </a:r>
            <a:endParaRPr lang="en-US" sz="1400" dirty="0"/>
          </a:p>
        </p:txBody>
      </p:sp>
      <p:sp>
        <p:nvSpPr>
          <p:cNvPr id="9" name="Shape 7"/>
          <p:cNvSpPr/>
          <p:nvPr/>
        </p:nvSpPr>
        <p:spPr>
          <a:xfrm>
            <a:off x="914400" y="3886200"/>
            <a:ext cx="2926080" cy="1051560"/>
          </a:xfrm>
          <a:prstGeom prst="roundRect">
            <a:avLst>
              <a:gd name="adj" fmla="val 6957"/>
            </a:avLst>
          </a:prstGeom>
          <a:solidFill>
            <a:srgbClr val="F8E9E9"/>
          </a:solidFill>
          <a:ln w="12700">
            <a:solidFill>
              <a:srgbClr val="BFD7E3">
                <a:alpha val="80000"/>
              </a:srgbClr>
            </a:solidFill>
            <a:prstDash val="solid"/>
          </a:ln>
        </p:spPr>
      </p:sp>
      <p:sp>
        <p:nvSpPr>
          <p:cNvPr id="10" name="Text 8"/>
          <p:cNvSpPr/>
          <p:nvPr/>
        </p:nvSpPr>
        <p:spPr>
          <a:xfrm>
            <a:off x="1078992" y="4032504"/>
            <a:ext cx="25968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Android 8+</a:t>
            </a:r>
            <a:endParaRPr lang="en-US" sz="1500" dirty="0"/>
          </a:p>
        </p:txBody>
      </p:sp>
      <p:sp>
        <p:nvSpPr>
          <p:cNvPr id="11" name="Text 9"/>
          <p:cNvSpPr/>
          <p:nvPr/>
        </p:nvSpPr>
        <p:spPr>
          <a:xfrm>
            <a:off x="1078992" y="4361688"/>
            <a:ext cx="2596896" cy="45720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Not implemented: no React Native Android project found.</a:t>
            </a:r>
            <a:endParaRPr lang="en-US" sz="1200" dirty="0"/>
          </a:p>
        </p:txBody>
      </p:sp>
      <p:sp>
        <p:nvSpPr>
          <p:cNvPr id="12" name="Shape 10"/>
          <p:cNvSpPr/>
          <p:nvPr/>
        </p:nvSpPr>
        <p:spPr>
          <a:xfrm>
            <a:off x="4617720" y="3886200"/>
            <a:ext cx="2926080" cy="1051560"/>
          </a:xfrm>
          <a:prstGeom prst="roundRect">
            <a:avLst>
              <a:gd name="adj" fmla="val 6957"/>
            </a:avLst>
          </a:prstGeom>
          <a:solidFill>
            <a:srgbClr val="F8E9E9"/>
          </a:solidFill>
          <a:ln w="12700">
            <a:solidFill>
              <a:srgbClr val="BFD7E3">
                <a:alpha val="80000"/>
              </a:srgbClr>
            </a:solidFill>
            <a:prstDash val="solid"/>
          </a:ln>
        </p:spPr>
      </p:sp>
      <p:sp>
        <p:nvSpPr>
          <p:cNvPr id="13" name="Text 11"/>
          <p:cNvSpPr/>
          <p:nvPr/>
        </p:nvSpPr>
        <p:spPr>
          <a:xfrm>
            <a:off x="4782312" y="4032504"/>
            <a:ext cx="25968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iOS 12+</a:t>
            </a:r>
            <a:endParaRPr lang="en-US" sz="1500" dirty="0"/>
          </a:p>
        </p:txBody>
      </p:sp>
      <p:sp>
        <p:nvSpPr>
          <p:cNvPr id="14" name="Text 12"/>
          <p:cNvSpPr/>
          <p:nvPr/>
        </p:nvSpPr>
        <p:spPr>
          <a:xfrm>
            <a:off x="4782312" y="4361688"/>
            <a:ext cx="2596896" cy="45720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Not implemented: no React Native iOS project found.</a:t>
            </a:r>
            <a:endParaRPr lang="en-US" sz="1200" dirty="0"/>
          </a:p>
        </p:txBody>
      </p:sp>
      <p:sp>
        <p:nvSpPr>
          <p:cNvPr id="15" name="Shape 13"/>
          <p:cNvSpPr/>
          <p:nvPr/>
        </p:nvSpPr>
        <p:spPr>
          <a:xfrm>
            <a:off x="8321040" y="3886200"/>
            <a:ext cx="2926080" cy="1051560"/>
          </a:xfrm>
          <a:prstGeom prst="roundRect">
            <a:avLst>
              <a:gd name="adj" fmla="val 6957"/>
            </a:avLst>
          </a:prstGeom>
          <a:solidFill>
            <a:srgbClr val="FFF4DA"/>
          </a:solidFill>
          <a:ln w="12700">
            <a:solidFill>
              <a:srgbClr val="BFD7E3">
                <a:alpha val="80000"/>
              </a:srgbClr>
            </a:solidFill>
            <a:prstDash val="solid"/>
          </a:ln>
        </p:spPr>
      </p:sp>
      <p:sp>
        <p:nvSpPr>
          <p:cNvPr id="16" name="Text 14"/>
          <p:cNvSpPr/>
          <p:nvPr/>
        </p:nvSpPr>
        <p:spPr>
          <a:xfrm>
            <a:off x="8485632" y="4032504"/>
            <a:ext cx="25968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3GB RAM</a:t>
            </a:r>
            <a:endParaRPr lang="en-US" sz="1500" dirty="0"/>
          </a:p>
        </p:txBody>
      </p:sp>
      <p:sp>
        <p:nvSpPr>
          <p:cNvPr id="17" name="Text 15"/>
          <p:cNvSpPr/>
          <p:nvPr/>
        </p:nvSpPr>
        <p:spPr>
          <a:xfrm>
            <a:off x="8485632" y="4361688"/>
            <a:ext cx="2596896" cy="45720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No memory requirement is stated in code or README.</a:t>
            </a:r>
            <a:endParaRPr lang="en-US" sz="1200" dirty="0"/>
          </a:p>
        </p:txBody>
      </p:sp>
      <p:sp>
        <p:nvSpPr>
          <p:cNvPr id="18" name="Shape 16"/>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19" name="Text 17"/>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actual compatibility</a:t>
            </a:r>
            <a:endParaRPr lang="en-US" sz="1000" dirty="0"/>
          </a:p>
        </p:txBody>
      </p:sp>
      <p:sp>
        <p:nvSpPr>
          <p:cNvPr id="20" name="Text 18"/>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10/14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Open-Source Stack</a:t>
            </a:r>
            <a:endParaRPr lang="en-US" sz="3600" dirty="0"/>
          </a:p>
        </p:txBody>
      </p:sp>
      <p:sp>
        <p:nvSpPr>
          <p:cNvPr id="3" name="Shape 1"/>
          <p:cNvSpPr/>
          <p:nvPr/>
        </p:nvSpPr>
        <p:spPr>
          <a:xfrm>
            <a:off x="777240" y="1234440"/>
            <a:ext cx="3154680" cy="1325880"/>
          </a:xfrm>
          <a:prstGeom prst="roundRect">
            <a:avLst>
              <a:gd name="adj" fmla="val 5517"/>
            </a:avLst>
          </a:prstGeom>
          <a:solidFill>
            <a:srgbClr val="EAF7FC"/>
          </a:solidFill>
          <a:ln w="12700">
            <a:solidFill>
              <a:srgbClr val="BFD7E3">
                <a:alpha val="80000"/>
              </a:srgbClr>
            </a:solidFill>
            <a:prstDash val="solid"/>
          </a:ln>
        </p:spPr>
      </p:sp>
      <p:sp>
        <p:nvSpPr>
          <p:cNvPr id="4" name="Text 2"/>
          <p:cNvSpPr/>
          <p:nvPr/>
        </p:nvSpPr>
        <p:spPr>
          <a:xfrm>
            <a:off x="941832" y="1380744"/>
            <a:ext cx="28254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OpenCV contrib</a:t>
            </a:r>
            <a:endParaRPr lang="en-US" sz="1500" dirty="0"/>
          </a:p>
        </p:txBody>
      </p:sp>
      <p:sp>
        <p:nvSpPr>
          <p:cNvPr id="5" name="Text 3"/>
          <p:cNvSpPr/>
          <p:nvPr/>
        </p:nvSpPr>
        <p:spPr>
          <a:xfrm>
            <a:off x="941832" y="1709928"/>
            <a:ext cx="2825496" cy="73152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opencv-contrib-python &gt;= 4.8.0</a:t>
            </a:r>
            <a:endParaRPr lang="en-US" sz="1200" dirty="0"/>
          </a:p>
        </p:txBody>
      </p:sp>
      <p:sp>
        <p:nvSpPr>
          <p:cNvPr id="6" name="Shape 4"/>
          <p:cNvSpPr/>
          <p:nvPr/>
        </p:nvSpPr>
        <p:spPr>
          <a:xfrm>
            <a:off x="4572000" y="1234440"/>
            <a:ext cx="3154680" cy="1325880"/>
          </a:xfrm>
          <a:prstGeom prst="roundRect">
            <a:avLst>
              <a:gd name="adj" fmla="val 5517"/>
            </a:avLst>
          </a:prstGeom>
          <a:solidFill>
            <a:srgbClr val="EAF7FC"/>
          </a:solidFill>
          <a:ln w="12700">
            <a:solidFill>
              <a:srgbClr val="BFD7E3">
                <a:alpha val="80000"/>
              </a:srgbClr>
            </a:solidFill>
            <a:prstDash val="solid"/>
          </a:ln>
        </p:spPr>
      </p:sp>
      <p:sp>
        <p:nvSpPr>
          <p:cNvPr id="7" name="Text 5"/>
          <p:cNvSpPr/>
          <p:nvPr/>
        </p:nvSpPr>
        <p:spPr>
          <a:xfrm>
            <a:off x="4736592" y="1380744"/>
            <a:ext cx="28254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MediaPipe</a:t>
            </a:r>
            <a:endParaRPr lang="en-US" sz="1500" dirty="0"/>
          </a:p>
        </p:txBody>
      </p:sp>
      <p:sp>
        <p:nvSpPr>
          <p:cNvPr id="8" name="Text 6"/>
          <p:cNvSpPr/>
          <p:nvPr/>
        </p:nvSpPr>
        <p:spPr>
          <a:xfrm>
            <a:off x="4736592" y="1709928"/>
            <a:ext cx="2825496" cy="73152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mediapipe &gt;= 0.10.0</a:t>
            </a:r>
            <a:endParaRPr lang="en-US" sz="1200" dirty="0"/>
          </a:p>
        </p:txBody>
      </p:sp>
      <p:sp>
        <p:nvSpPr>
          <p:cNvPr id="9" name="Shape 7"/>
          <p:cNvSpPr/>
          <p:nvPr/>
        </p:nvSpPr>
        <p:spPr>
          <a:xfrm>
            <a:off x="8366760" y="1234440"/>
            <a:ext cx="3154680" cy="1325880"/>
          </a:xfrm>
          <a:prstGeom prst="roundRect">
            <a:avLst>
              <a:gd name="adj" fmla="val 5517"/>
            </a:avLst>
          </a:prstGeom>
          <a:solidFill>
            <a:srgbClr val="EAF7FC"/>
          </a:solidFill>
          <a:ln w="12700">
            <a:solidFill>
              <a:srgbClr val="BFD7E3">
                <a:alpha val="80000"/>
              </a:srgbClr>
            </a:solidFill>
            <a:prstDash val="solid"/>
          </a:ln>
        </p:spPr>
      </p:sp>
      <p:sp>
        <p:nvSpPr>
          <p:cNvPr id="10" name="Text 8"/>
          <p:cNvSpPr/>
          <p:nvPr/>
        </p:nvSpPr>
        <p:spPr>
          <a:xfrm>
            <a:off x="8531352" y="1380744"/>
            <a:ext cx="28254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Pillow</a:t>
            </a:r>
            <a:endParaRPr lang="en-US" sz="1500" dirty="0"/>
          </a:p>
        </p:txBody>
      </p:sp>
      <p:sp>
        <p:nvSpPr>
          <p:cNvPr id="11" name="Text 9"/>
          <p:cNvSpPr/>
          <p:nvPr/>
        </p:nvSpPr>
        <p:spPr>
          <a:xfrm>
            <a:off x="8531352" y="1709928"/>
            <a:ext cx="2825496" cy="73152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pillow &gt;= 10.0.0</a:t>
            </a:r>
            <a:endParaRPr lang="en-US" sz="1200" dirty="0"/>
          </a:p>
        </p:txBody>
      </p:sp>
      <p:sp>
        <p:nvSpPr>
          <p:cNvPr id="12" name="Shape 10"/>
          <p:cNvSpPr/>
          <p:nvPr/>
        </p:nvSpPr>
        <p:spPr>
          <a:xfrm>
            <a:off x="777240" y="3063240"/>
            <a:ext cx="3154680" cy="1325880"/>
          </a:xfrm>
          <a:prstGeom prst="roundRect">
            <a:avLst>
              <a:gd name="adj" fmla="val 5517"/>
            </a:avLst>
          </a:prstGeom>
          <a:solidFill>
            <a:srgbClr val="F4F7FA"/>
          </a:solidFill>
          <a:ln w="12700">
            <a:solidFill>
              <a:srgbClr val="BFD7E3">
                <a:alpha val="80000"/>
              </a:srgbClr>
            </a:solidFill>
            <a:prstDash val="solid"/>
          </a:ln>
        </p:spPr>
      </p:sp>
      <p:sp>
        <p:nvSpPr>
          <p:cNvPr id="13" name="Text 11"/>
          <p:cNvSpPr/>
          <p:nvPr/>
        </p:nvSpPr>
        <p:spPr>
          <a:xfrm>
            <a:off x="941832" y="3209544"/>
            <a:ext cx="28254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NumPy</a:t>
            </a:r>
            <a:endParaRPr lang="en-US" sz="1500" dirty="0"/>
          </a:p>
        </p:txBody>
      </p:sp>
      <p:sp>
        <p:nvSpPr>
          <p:cNvPr id="14" name="Text 12"/>
          <p:cNvSpPr/>
          <p:nvPr/>
        </p:nvSpPr>
        <p:spPr>
          <a:xfrm>
            <a:off x="941832" y="3538728"/>
            <a:ext cx="2825496" cy="73152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numpy &gt;= 1.24.0</a:t>
            </a:r>
            <a:endParaRPr lang="en-US" sz="1200" dirty="0"/>
          </a:p>
        </p:txBody>
      </p:sp>
      <p:sp>
        <p:nvSpPr>
          <p:cNvPr id="15" name="Shape 13"/>
          <p:cNvSpPr/>
          <p:nvPr/>
        </p:nvSpPr>
        <p:spPr>
          <a:xfrm>
            <a:off x="4572000" y="3063240"/>
            <a:ext cx="3154680" cy="1325880"/>
          </a:xfrm>
          <a:prstGeom prst="roundRect">
            <a:avLst>
              <a:gd name="adj" fmla="val 5517"/>
            </a:avLst>
          </a:prstGeom>
          <a:solidFill>
            <a:srgbClr val="F4F7FA"/>
          </a:solidFill>
          <a:ln w="12700">
            <a:solidFill>
              <a:srgbClr val="BFD7E3">
                <a:alpha val="80000"/>
              </a:srgbClr>
            </a:solidFill>
            <a:prstDash val="solid"/>
          </a:ln>
        </p:spPr>
      </p:sp>
      <p:sp>
        <p:nvSpPr>
          <p:cNvPr id="16" name="Text 14"/>
          <p:cNvSpPr/>
          <p:nvPr/>
        </p:nvSpPr>
        <p:spPr>
          <a:xfrm>
            <a:off x="4736592" y="3209544"/>
            <a:ext cx="28254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Tkinter</a:t>
            </a:r>
            <a:endParaRPr lang="en-US" sz="1500" dirty="0"/>
          </a:p>
        </p:txBody>
      </p:sp>
      <p:sp>
        <p:nvSpPr>
          <p:cNvPr id="17" name="Text 15"/>
          <p:cNvSpPr/>
          <p:nvPr/>
        </p:nvSpPr>
        <p:spPr>
          <a:xfrm>
            <a:off x="4736592" y="3538728"/>
            <a:ext cx="2825496" cy="73152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Python standard library UI</a:t>
            </a:r>
            <a:endParaRPr lang="en-US" sz="1200" dirty="0"/>
          </a:p>
        </p:txBody>
      </p:sp>
      <p:sp>
        <p:nvSpPr>
          <p:cNvPr id="18" name="Shape 16"/>
          <p:cNvSpPr/>
          <p:nvPr/>
        </p:nvSpPr>
        <p:spPr>
          <a:xfrm>
            <a:off x="8366760" y="3063240"/>
            <a:ext cx="3154680" cy="1325880"/>
          </a:xfrm>
          <a:prstGeom prst="roundRect">
            <a:avLst>
              <a:gd name="adj" fmla="val 5517"/>
            </a:avLst>
          </a:prstGeom>
          <a:solidFill>
            <a:srgbClr val="F4F7FA"/>
          </a:solidFill>
          <a:ln w="12700">
            <a:solidFill>
              <a:srgbClr val="BFD7E3">
                <a:alpha val="80000"/>
              </a:srgbClr>
            </a:solidFill>
            <a:prstDash val="solid"/>
          </a:ln>
        </p:spPr>
      </p:sp>
      <p:sp>
        <p:nvSpPr>
          <p:cNvPr id="19" name="Text 17"/>
          <p:cNvSpPr/>
          <p:nvPr/>
        </p:nvSpPr>
        <p:spPr>
          <a:xfrm>
            <a:off x="8531352" y="3209544"/>
            <a:ext cx="282549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Stdlib</a:t>
            </a:r>
            <a:endParaRPr lang="en-US" sz="1500" dirty="0"/>
          </a:p>
        </p:txBody>
      </p:sp>
      <p:sp>
        <p:nvSpPr>
          <p:cNvPr id="20" name="Text 18"/>
          <p:cNvSpPr/>
          <p:nvPr/>
        </p:nvSpPr>
        <p:spPr>
          <a:xfrm>
            <a:off x="8531352" y="3538728"/>
            <a:ext cx="2825496" cy="73152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threading, urllib, datetime, os, sys</a:t>
            </a:r>
            <a:endParaRPr lang="en-US" sz="1200" dirty="0"/>
          </a:p>
        </p:txBody>
      </p:sp>
      <p:sp>
        <p:nvSpPr>
          <p:cNvPr id="21" name="Shape 19"/>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22" name="Text 20"/>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from requirements and imports</a:t>
            </a:r>
            <a:endParaRPr lang="en-US" sz="1000" dirty="0"/>
          </a:p>
        </p:txBody>
      </p:sp>
      <p:sp>
        <p:nvSpPr>
          <p:cNvPr id="23" name="Text 21"/>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11/14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Evaluation Scorecard</a:t>
            </a:r>
            <a:endParaRPr lang="en-US" sz="3600" dirty="0"/>
          </a:p>
        </p:txBody>
      </p:sp>
      <p:sp>
        <p:nvSpPr>
          <p:cNvPr id="3" name="Shape 1"/>
          <p:cNvSpPr/>
          <p:nvPr/>
        </p:nvSpPr>
        <p:spPr>
          <a:xfrm>
            <a:off x="822960" y="1234440"/>
            <a:ext cx="10515600" cy="4023360"/>
          </a:xfrm>
          <a:prstGeom prst="roundRect">
            <a:avLst>
              <a:gd name="adj" fmla="val 1818"/>
            </a:avLst>
          </a:prstGeom>
          <a:solidFill>
            <a:srgbClr val="14334A"/>
          </a:solidFill>
          <a:ln w="12700">
            <a:solidFill>
              <a:srgbClr val="14334A"/>
            </a:solidFill>
            <a:prstDash val="solid"/>
          </a:ln>
        </p:spPr>
      </p:sp>
      <p:sp>
        <p:nvSpPr>
          <p:cNvPr id="4" name="Shape 2"/>
          <p:cNvSpPr/>
          <p:nvPr/>
        </p:nvSpPr>
        <p:spPr>
          <a:xfrm>
            <a:off x="1097280" y="1508760"/>
            <a:ext cx="9966960" cy="621792"/>
          </a:xfrm>
          <a:prstGeom prst="rect">
            <a:avLst/>
          </a:prstGeom>
          <a:solidFill>
            <a:srgbClr val="1B4965"/>
          </a:solidFill>
          <a:ln w="12700">
            <a:solidFill>
              <a:srgbClr val="1B4965">
                <a:alpha val="0"/>
              </a:srgbClr>
            </a:solidFill>
            <a:prstDash val="solid"/>
          </a:ln>
        </p:spPr>
      </p:sp>
      <p:sp>
        <p:nvSpPr>
          <p:cNvPr id="5" name="Text 3"/>
          <p:cNvSpPr/>
          <p:nvPr/>
        </p:nvSpPr>
        <p:spPr>
          <a:xfrm>
            <a:off x="1325880" y="1673352"/>
            <a:ext cx="2286000" cy="20116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Innovation</a:t>
            </a:r>
            <a:endParaRPr lang="en-US" sz="1500" dirty="0"/>
          </a:p>
        </p:txBody>
      </p:sp>
      <p:sp>
        <p:nvSpPr>
          <p:cNvPr id="6" name="Text 4"/>
          <p:cNvSpPr/>
          <p:nvPr/>
        </p:nvSpPr>
        <p:spPr>
          <a:xfrm>
            <a:off x="3840480" y="1545336"/>
            <a:ext cx="1143000" cy="420624"/>
          </a:xfrm>
          <a:prstGeom prst="rect">
            <a:avLst/>
          </a:prstGeom>
          <a:noFill/>
          <a:ln/>
        </p:spPr>
        <p:txBody>
          <a:bodyPr wrap="square" lIns="0" tIns="0" rIns="0" bIns="0" rtlCol="0" anchor="ctr"/>
          <a:lstStyle/>
          <a:p>
            <a:pPr algn="ctr" indent="0" marL="0">
              <a:buNone/>
            </a:pPr>
            <a:r>
              <a:rPr lang="en-US" sz="2800" b="1" dirty="0">
                <a:solidFill>
                  <a:srgbClr val="00C2FF"/>
                </a:solidFill>
                <a:latin typeface="Calibri" pitchFamily="34" charset="0"/>
                <a:ea typeface="Calibri" pitchFamily="34" charset="-122"/>
                <a:cs typeface="Calibri" pitchFamily="34" charset="-120"/>
              </a:rPr>
              <a:t>30</a:t>
            </a:r>
            <a:endParaRPr lang="en-US" sz="2800" dirty="0"/>
          </a:p>
        </p:txBody>
      </p:sp>
      <p:sp>
        <p:nvSpPr>
          <p:cNvPr id="7" name="Text 5"/>
          <p:cNvSpPr/>
          <p:nvPr/>
        </p:nvSpPr>
        <p:spPr>
          <a:xfrm>
            <a:off x="5303520" y="1673352"/>
            <a:ext cx="5120640" cy="219456"/>
          </a:xfrm>
          <a:prstGeom prst="rect">
            <a:avLst/>
          </a:prstGeom>
          <a:noFill/>
          <a:ln/>
        </p:spPr>
        <p:txBody>
          <a:bodyPr wrap="square" lIns="0" tIns="0" rIns="0" bIns="0" rtlCol="0" anchor="ctr">
            <a:normAutofit/>
          </a:bodyPr>
          <a:lstStyle/>
          <a:p>
            <a:pPr indent="0" marL="0">
              <a:buNone/>
            </a:pPr>
            <a:r>
              <a:rPr lang="en-US" sz="1400" dirty="0">
                <a:solidFill>
                  <a:srgbClr val="D7E8F2"/>
                </a:solidFill>
                <a:latin typeface="Calibri" pitchFamily="34" charset="0"/>
                <a:ea typeface="Calibri" pitchFamily="34" charset="-122"/>
                <a:cs typeface="Calibri" pitchFamily="34" charset="-120"/>
              </a:rPr>
              <a:t>Blink liveness + SFace matching</a:t>
            </a:r>
            <a:endParaRPr lang="en-US" sz="1400" dirty="0"/>
          </a:p>
        </p:txBody>
      </p:sp>
      <p:sp>
        <p:nvSpPr>
          <p:cNvPr id="8" name="Shape 6"/>
          <p:cNvSpPr/>
          <p:nvPr/>
        </p:nvSpPr>
        <p:spPr>
          <a:xfrm>
            <a:off x="1097280" y="2350008"/>
            <a:ext cx="9966960" cy="621792"/>
          </a:xfrm>
          <a:prstGeom prst="rect">
            <a:avLst/>
          </a:prstGeom>
          <a:solidFill>
            <a:srgbClr val="173B54"/>
          </a:solidFill>
          <a:ln w="12700">
            <a:solidFill>
              <a:srgbClr val="1B4965">
                <a:alpha val="0"/>
              </a:srgbClr>
            </a:solidFill>
            <a:prstDash val="solid"/>
          </a:ln>
        </p:spPr>
      </p:sp>
      <p:sp>
        <p:nvSpPr>
          <p:cNvPr id="9" name="Text 7"/>
          <p:cNvSpPr/>
          <p:nvPr/>
        </p:nvSpPr>
        <p:spPr>
          <a:xfrm>
            <a:off x="1325880" y="2514600"/>
            <a:ext cx="2286000" cy="20116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Feasibility</a:t>
            </a:r>
            <a:endParaRPr lang="en-US" sz="1500" dirty="0"/>
          </a:p>
        </p:txBody>
      </p:sp>
      <p:sp>
        <p:nvSpPr>
          <p:cNvPr id="10" name="Text 8"/>
          <p:cNvSpPr/>
          <p:nvPr/>
        </p:nvSpPr>
        <p:spPr>
          <a:xfrm>
            <a:off x="3840480" y="2386584"/>
            <a:ext cx="1143000" cy="420624"/>
          </a:xfrm>
          <a:prstGeom prst="rect">
            <a:avLst/>
          </a:prstGeom>
          <a:noFill/>
          <a:ln/>
        </p:spPr>
        <p:txBody>
          <a:bodyPr wrap="square" lIns="0" tIns="0" rIns="0" bIns="0" rtlCol="0" anchor="ctr"/>
          <a:lstStyle/>
          <a:p>
            <a:pPr algn="ctr" indent="0" marL="0">
              <a:buNone/>
            </a:pPr>
            <a:r>
              <a:rPr lang="en-US" sz="2800" b="1" dirty="0">
                <a:solidFill>
                  <a:srgbClr val="00C2FF"/>
                </a:solidFill>
                <a:latin typeface="Calibri" pitchFamily="34" charset="0"/>
                <a:ea typeface="Calibri" pitchFamily="34" charset="-122"/>
                <a:cs typeface="Calibri" pitchFamily="34" charset="-120"/>
              </a:rPr>
              <a:t>30</a:t>
            </a:r>
            <a:endParaRPr lang="en-US" sz="2800" dirty="0"/>
          </a:p>
        </p:txBody>
      </p:sp>
      <p:sp>
        <p:nvSpPr>
          <p:cNvPr id="11" name="Text 9"/>
          <p:cNvSpPr/>
          <p:nvPr/>
        </p:nvSpPr>
        <p:spPr>
          <a:xfrm>
            <a:off x="5303520" y="2514600"/>
            <a:ext cx="5120640" cy="219456"/>
          </a:xfrm>
          <a:prstGeom prst="rect">
            <a:avLst/>
          </a:prstGeom>
          <a:noFill/>
          <a:ln/>
        </p:spPr>
        <p:txBody>
          <a:bodyPr wrap="square" lIns="0" tIns="0" rIns="0" bIns="0" rtlCol="0" anchor="ctr">
            <a:normAutofit/>
          </a:bodyPr>
          <a:lstStyle/>
          <a:p>
            <a:pPr indent="0" marL="0">
              <a:buNone/>
            </a:pPr>
            <a:r>
              <a:rPr lang="en-US" sz="1400" dirty="0">
                <a:solidFill>
                  <a:srgbClr val="D7E8F2"/>
                </a:solidFill>
                <a:latin typeface="Calibri" pitchFamily="34" charset="0"/>
                <a:ea typeface="Calibri" pitchFamily="34" charset="-122"/>
                <a:cs typeface="Calibri" pitchFamily="34" charset="-120"/>
              </a:rPr>
              <a:t>Runs locally with Python desktop stack</a:t>
            </a:r>
            <a:endParaRPr lang="en-US" sz="1400" dirty="0"/>
          </a:p>
        </p:txBody>
      </p:sp>
      <p:sp>
        <p:nvSpPr>
          <p:cNvPr id="12" name="Shape 10"/>
          <p:cNvSpPr/>
          <p:nvPr/>
        </p:nvSpPr>
        <p:spPr>
          <a:xfrm>
            <a:off x="1097280" y="3191256"/>
            <a:ext cx="9966960" cy="621792"/>
          </a:xfrm>
          <a:prstGeom prst="rect">
            <a:avLst/>
          </a:prstGeom>
          <a:solidFill>
            <a:srgbClr val="1B4965"/>
          </a:solidFill>
          <a:ln w="12700">
            <a:solidFill>
              <a:srgbClr val="1B4965">
                <a:alpha val="0"/>
              </a:srgbClr>
            </a:solidFill>
            <a:prstDash val="solid"/>
          </a:ln>
        </p:spPr>
      </p:sp>
      <p:sp>
        <p:nvSpPr>
          <p:cNvPr id="13" name="Text 11"/>
          <p:cNvSpPr/>
          <p:nvPr/>
        </p:nvSpPr>
        <p:spPr>
          <a:xfrm>
            <a:off x="1325880" y="3355848"/>
            <a:ext cx="2286000" cy="20116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Scale</a:t>
            </a:r>
            <a:endParaRPr lang="en-US" sz="1500" dirty="0"/>
          </a:p>
        </p:txBody>
      </p:sp>
      <p:sp>
        <p:nvSpPr>
          <p:cNvPr id="14" name="Text 12"/>
          <p:cNvSpPr/>
          <p:nvPr/>
        </p:nvSpPr>
        <p:spPr>
          <a:xfrm>
            <a:off x="3840480" y="3227832"/>
            <a:ext cx="1143000" cy="420624"/>
          </a:xfrm>
          <a:prstGeom prst="rect">
            <a:avLst/>
          </a:prstGeom>
          <a:noFill/>
          <a:ln/>
        </p:spPr>
        <p:txBody>
          <a:bodyPr wrap="square" lIns="0" tIns="0" rIns="0" bIns="0" rtlCol="0" anchor="ctr"/>
          <a:lstStyle/>
          <a:p>
            <a:pPr algn="ctr" indent="0" marL="0">
              <a:buNone/>
            </a:pPr>
            <a:r>
              <a:rPr lang="en-US" sz="2800" b="1" dirty="0">
                <a:solidFill>
                  <a:srgbClr val="00C2FF"/>
                </a:solidFill>
                <a:latin typeface="Calibri" pitchFamily="34" charset="0"/>
                <a:ea typeface="Calibri" pitchFamily="34" charset="-122"/>
                <a:cs typeface="Calibri" pitchFamily="34" charset="-120"/>
              </a:rPr>
              <a:t>20</a:t>
            </a:r>
            <a:endParaRPr lang="en-US" sz="2800" dirty="0"/>
          </a:p>
        </p:txBody>
      </p:sp>
      <p:sp>
        <p:nvSpPr>
          <p:cNvPr id="15" name="Text 13"/>
          <p:cNvSpPr/>
          <p:nvPr/>
        </p:nvSpPr>
        <p:spPr>
          <a:xfrm>
            <a:off x="5303520" y="3355848"/>
            <a:ext cx="5120640" cy="219456"/>
          </a:xfrm>
          <a:prstGeom prst="rect">
            <a:avLst/>
          </a:prstGeom>
          <a:noFill/>
          <a:ln/>
        </p:spPr>
        <p:txBody>
          <a:bodyPr wrap="square" lIns="0" tIns="0" rIns="0" bIns="0" rtlCol="0" anchor="ctr">
            <a:normAutofit/>
          </a:bodyPr>
          <a:lstStyle/>
          <a:p>
            <a:pPr indent="0" marL="0">
              <a:buNone/>
            </a:pPr>
            <a:r>
              <a:rPr lang="en-US" sz="1400" dirty="0">
                <a:solidFill>
                  <a:srgbClr val="D7E8F2"/>
                </a:solidFill>
                <a:latin typeface="Calibri" pitchFamily="34" charset="0"/>
                <a:ea typeface="Calibri" pitchFamily="34" charset="-122"/>
                <a:cs typeface="Calibri" pitchFamily="34" charset="-120"/>
              </a:rPr>
              <a:t>Needs service, DB, and sync layers for scale</a:t>
            </a:r>
            <a:endParaRPr lang="en-US" sz="1400" dirty="0"/>
          </a:p>
        </p:txBody>
      </p:sp>
      <p:sp>
        <p:nvSpPr>
          <p:cNvPr id="16" name="Shape 14"/>
          <p:cNvSpPr/>
          <p:nvPr/>
        </p:nvSpPr>
        <p:spPr>
          <a:xfrm>
            <a:off x="1097280" y="4032504"/>
            <a:ext cx="9966960" cy="621792"/>
          </a:xfrm>
          <a:prstGeom prst="rect">
            <a:avLst/>
          </a:prstGeom>
          <a:solidFill>
            <a:srgbClr val="173B54"/>
          </a:solidFill>
          <a:ln w="12700">
            <a:solidFill>
              <a:srgbClr val="1B4965">
                <a:alpha val="0"/>
              </a:srgbClr>
            </a:solidFill>
            <a:prstDash val="solid"/>
          </a:ln>
        </p:spPr>
      </p:sp>
      <p:sp>
        <p:nvSpPr>
          <p:cNvPr id="17" name="Text 15"/>
          <p:cNvSpPr/>
          <p:nvPr/>
        </p:nvSpPr>
        <p:spPr>
          <a:xfrm>
            <a:off x="1325880" y="4197096"/>
            <a:ext cx="2286000" cy="20116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Docs</a:t>
            </a:r>
            <a:endParaRPr lang="en-US" sz="1500" dirty="0"/>
          </a:p>
        </p:txBody>
      </p:sp>
      <p:sp>
        <p:nvSpPr>
          <p:cNvPr id="18" name="Text 16"/>
          <p:cNvSpPr/>
          <p:nvPr/>
        </p:nvSpPr>
        <p:spPr>
          <a:xfrm>
            <a:off x="3840480" y="4069080"/>
            <a:ext cx="1143000" cy="420624"/>
          </a:xfrm>
          <a:prstGeom prst="rect">
            <a:avLst/>
          </a:prstGeom>
          <a:noFill/>
          <a:ln/>
        </p:spPr>
        <p:txBody>
          <a:bodyPr wrap="square" lIns="0" tIns="0" rIns="0" bIns="0" rtlCol="0" anchor="ctr"/>
          <a:lstStyle/>
          <a:p>
            <a:pPr algn="ctr" indent="0" marL="0">
              <a:buNone/>
            </a:pPr>
            <a:r>
              <a:rPr lang="en-US" sz="2800" b="1" dirty="0">
                <a:solidFill>
                  <a:srgbClr val="00C2FF"/>
                </a:solidFill>
                <a:latin typeface="Calibri" pitchFamily="34" charset="0"/>
                <a:ea typeface="Calibri" pitchFamily="34" charset="-122"/>
                <a:cs typeface="Calibri" pitchFamily="34" charset="-120"/>
              </a:rPr>
              <a:t>20</a:t>
            </a:r>
            <a:endParaRPr lang="en-US" sz="2800" dirty="0"/>
          </a:p>
        </p:txBody>
      </p:sp>
      <p:sp>
        <p:nvSpPr>
          <p:cNvPr id="19" name="Text 17"/>
          <p:cNvSpPr/>
          <p:nvPr/>
        </p:nvSpPr>
        <p:spPr>
          <a:xfrm>
            <a:off x="5303520" y="4197096"/>
            <a:ext cx="5120640" cy="219456"/>
          </a:xfrm>
          <a:prstGeom prst="rect">
            <a:avLst/>
          </a:prstGeom>
          <a:noFill/>
          <a:ln/>
        </p:spPr>
        <p:txBody>
          <a:bodyPr wrap="square" lIns="0" tIns="0" rIns="0" bIns="0" rtlCol="0" anchor="ctr">
            <a:normAutofit/>
          </a:bodyPr>
          <a:lstStyle/>
          <a:p>
            <a:pPr indent="0" marL="0">
              <a:buNone/>
            </a:pPr>
            <a:r>
              <a:rPr lang="en-US" sz="1400" dirty="0">
                <a:solidFill>
                  <a:srgbClr val="D7E8F2"/>
                </a:solidFill>
                <a:latin typeface="Calibri" pitchFamily="34" charset="0"/>
                <a:ea typeface="Calibri" pitchFamily="34" charset="-122"/>
                <a:cs typeface="Calibri" pitchFamily="34" charset="-120"/>
              </a:rPr>
              <a:t>Grounded documentation generated from code</a:t>
            </a:r>
            <a:endParaRPr lang="en-US" sz="1400" dirty="0"/>
          </a:p>
        </p:txBody>
      </p:sp>
      <p:sp>
        <p:nvSpPr>
          <p:cNvPr id="20" name="Text 18"/>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AFC4D4"/>
                </a:solidFill>
                <a:latin typeface="Calibri" pitchFamily="34" charset="0"/>
                <a:ea typeface="Calibri" pitchFamily="34" charset="-122"/>
                <a:cs typeface="Calibri" pitchFamily="34" charset="-120"/>
              </a:rPr>
              <a:t>Smart Hire AI Face Recognition | 12/14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20040"/>
            <a:ext cx="11155680" cy="457200"/>
          </a:xfrm>
          <a:prstGeom prst="rect">
            <a:avLst/>
          </a:prstGeom>
          <a:noFill/>
          <a:ln/>
        </p:spPr>
        <p:txBody>
          <a:bodyPr wrap="square" lIns="0" tIns="0" rIns="0" bIns="0" rtlCol="0" anchor="ctr">
            <a:normAutofit/>
          </a:bodyPr>
          <a:lstStyle/>
          <a:p>
            <a:pPr indent="0" marL="0">
              <a:buNone/>
            </a:pPr>
            <a:r>
              <a:rPr lang="en-US" sz="3600" b="1" dirty="0">
                <a:solidFill>
                  <a:srgbClr val="0D1B2A"/>
                </a:solidFill>
                <a:latin typeface="Calibri" pitchFamily="34" charset="0"/>
                <a:ea typeface="Calibri" pitchFamily="34" charset="-122"/>
                <a:cs typeface="Calibri" pitchFamily="34" charset="-120"/>
              </a:rPr>
              <a:t>Demo Flow</a:t>
            </a:r>
            <a:endParaRPr lang="en-US" sz="3600" dirty="0"/>
          </a:p>
        </p:txBody>
      </p:sp>
      <p:sp>
        <p:nvSpPr>
          <p:cNvPr id="3" name="Shape 1"/>
          <p:cNvSpPr/>
          <p:nvPr/>
        </p:nvSpPr>
        <p:spPr>
          <a:xfrm>
            <a:off x="685800" y="1143000"/>
            <a:ext cx="3246120" cy="1417320"/>
          </a:xfrm>
          <a:prstGeom prst="roundRect">
            <a:avLst>
              <a:gd name="adj" fmla="val 5161"/>
            </a:avLst>
          </a:prstGeom>
          <a:solidFill>
            <a:srgbClr val="F4F7FA"/>
          </a:solidFill>
          <a:ln w="12700">
            <a:solidFill>
              <a:srgbClr val="BFD7E3">
                <a:alpha val="80000"/>
              </a:srgbClr>
            </a:solidFill>
            <a:prstDash val="solid"/>
          </a:ln>
        </p:spPr>
      </p:sp>
      <p:sp>
        <p:nvSpPr>
          <p:cNvPr id="4" name="Text 2"/>
          <p:cNvSpPr/>
          <p:nvPr/>
        </p:nvSpPr>
        <p:spPr>
          <a:xfrm>
            <a:off x="850392" y="1289304"/>
            <a:ext cx="291693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1. Load Reference</a:t>
            </a:r>
            <a:endParaRPr lang="en-US" sz="1500" dirty="0"/>
          </a:p>
        </p:txBody>
      </p:sp>
      <p:sp>
        <p:nvSpPr>
          <p:cNvPr id="5" name="Text 3"/>
          <p:cNvSpPr/>
          <p:nvPr/>
        </p:nvSpPr>
        <p:spPr>
          <a:xfrm>
            <a:off x="850392" y="1618488"/>
            <a:ext cx="2916936" cy="82296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User selects a clear face image. App detects and crops the first face.</a:t>
            </a:r>
            <a:endParaRPr lang="en-US" sz="1200" dirty="0"/>
          </a:p>
        </p:txBody>
      </p:sp>
      <p:sp>
        <p:nvSpPr>
          <p:cNvPr id="6" name="Shape 4"/>
          <p:cNvSpPr/>
          <p:nvPr/>
        </p:nvSpPr>
        <p:spPr>
          <a:xfrm>
            <a:off x="4480560" y="1143000"/>
            <a:ext cx="3246120" cy="1417320"/>
          </a:xfrm>
          <a:prstGeom prst="roundRect">
            <a:avLst>
              <a:gd name="adj" fmla="val 5161"/>
            </a:avLst>
          </a:prstGeom>
          <a:solidFill>
            <a:srgbClr val="F4F7FA"/>
          </a:solidFill>
          <a:ln w="12700">
            <a:solidFill>
              <a:srgbClr val="BFD7E3">
                <a:alpha val="80000"/>
              </a:srgbClr>
            </a:solidFill>
            <a:prstDash val="solid"/>
          </a:ln>
        </p:spPr>
      </p:sp>
      <p:sp>
        <p:nvSpPr>
          <p:cNvPr id="7" name="Text 5"/>
          <p:cNvSpPr/>
          <p:nvPr/>
        </p:nvSpPr>
        <p:spPr>
          <a:xfrm>
            <a:off x="4645152" y="1289304"/>
            <a:ext cx="291693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2. Start Camera</a:t>
            </a:r>
            <a:endParaRPr lang="en-US" sz="1500" dirty="0"/>
          </a:p>
        </p:txBody>
      </p:sp>
      <p:sp>
        <p:nvSpPr>
          <p:cNvPr id="8" name="Text 6"/>
          <p:cNvSpPr/>
          <p:nvPr/>
        </p:nvSpPr>
        <p:spPr>
          <a:xfrm>
            <a:off x="4645152" y="1618488"/>
            <a:ext cx="2916936" cy="82296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OpenCV captures webcam frames and mirrors the live feed.</a:t>
            </a:r>
            <a:endParaRPr lang="en-US" sz="1200" dirty="0"/>
          </a:p>
        </p:txBody>
      </p:sp>
      <p:sp>
        <p:nvSpPr>
          <p:cNvPr id="9" name="Shape 7"/>
          <p:cNvSpPr/>
          <p:nvPr/>
        </p:nvSpPr>
        <p:spPr>
          <a:xfrm>
            <a:off x="8275320" y="1143000"/>
            <a:ext cx="3246120" cy="1417320"/>
          </a:xfrm>
          <a:prstGeom prst="roundRect">
            <a:avLst>
              <a:gd name="adj" fmla="val 5161"/>
            </a:avLst>
          </a:prstGeom>
          <a:solidFill>
            <a:srgbClr val="F4F7FA"/>
          </a:solidFill>
          <a:ln w="12700">
            <a:solidFill>
              <a:srgbClr val="BFD7E3">
                <a:alpha val="80000"/>
              </a:srgbClr>
            </a:solidFill>
            <a:prstDash val="solid"/>
          </a:ln>
        </p:spPr>
      </p:sp>
      <p:sp>
        <p:nvSpPr>
          <p:cNvPr id="10" name="Text 8"/>
          <p:cNvSpPr/>
          <p:nvPr/>
        </p:nvSpPr>
        <p:spPr>
          <a:xfrm>
            <a:off x="8439912" y="1289304"/>
            <a:ext cx="291693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3. Blink + Match</a:t>
            </a:r>
            <a:endParaRPr lang="en-US" sz="1500" dirty="0"/>
          </a:p>
        </p:txBody>
      </p:sp>
      <p:sp>
        <p:nvSpPr>
          <p:cNvPr id="11" name="Text 9"/>
          <p:cNvSpPr/>
          <p:nvPr/>
        </p:nvSpPr>
        <p:spPr>
          <a:xfrm>
            <a:off x="8439912" y="1618488"/>
            <a:ext cx="2916936" cy="82296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Blink liveness gates SFace cosine matching and overlay labels.</a:t>
            </a:r>
            <a:endParaRPr lang="en-US" sz="1200" dirty="0"/>
          </a:p>
        </p:txBody>
      </p:sp>
      <p:sp>
        <p:nvSpPr>
          <p:cNvPr id="12" name="Shape 10"/>
          <p:cNvSpPr/>
          <p:nvPr/>
        </p:nvSpPr>
        <p:spPr>
          <a:xfrm>
            <a:off x="777240" y="3246120"/>
            <a:ext cx="4937760" cy="2057400"/>
          </a:xfrm>
          <a:prstGeom prst="rect">
            <a:avLst/>
          </a:prstGeom>
          <a:solidFill>
            <a:srgbClr val="EEF3F7"/>
          </a:solidFill>
          <a:ln w="12700">
            <a:solidFill>
              <a:srgbClr val="BFD7E3"/>
            </a:solidFill>
            <a:prstDash val="solid"/>
          </a:ln>
        </p:spPr>
      </p:sp>
      <p:sp>
        <p:nvSpPr>
          <p:cNvPr id="13" name="Text 11"/>
          <p:cNvSpPr/>
          <p:nvPr/>
        </p:nvSpPr>
        <p:spPr>
          <a:xfrm>
            <a:off x="1188720" y="3977640"/>
            <a:ext cx="4114800" cy="457200"/>
          </a:xfrm>
          <a:prstGeom prst="rect">
            <a:avLst/>
          </a:prstGeom>
          <a:noFill/>
          <a:ln/>
        </p:spPr>
        <p:txBody>
          <a:bodyPr wrap="square" lIns="0" tIns="0" rIns="0" bIns="0" rtlCol="0" anchor="ctr"/>
          <a:lstStyle/>
          <a:p>
            <a:pPr algn="ctr" indent="0" marL="0">
              <a:buNone/>
            </a:pPr>
            <a:r>
              <a:rPr lang="en-US" sz="1700" b="1" dirty="0">
                <a:solidFill>
                  <a:srgbClr val="5D6B7A"/>
                </a:solidFill>
                <a:latin typeface="Calibri" pitchFamily="34" charset="0"/>
                <a:ea typeface="Calibri" pitchFamily="34" charset="-122"/>
                <a:cs typeface="Calibri" pitchFamily="34" charset="-120"/>
              </a:rPr>
              <a:t>Screenshot placeholder</a:t>
            </a:r>
            <a:endParaRPr lang="en-US" sz="1700" dirty="0"/>
          </a:p>
          <a:p>
            <a:pPr algn="ctr" indent="0" marL="0">
              <a:buNone/>
            </a:pPr>
            <a:r>
              <a:rPr lang="en-US" sz="1700" b="1" dirty="0">
                <a:solidFill>
                  <a:srgbClr val="5D6B7A"/>
                </a:solidFill>
                <a:latin typeface="Calibri" pitchFamily="34" charset="0"/>
                <a:ea typeface="Calibri" pitchFamily="34" charset="-122"/>
                <a:cs typeface="Calibri" pitchFamily="34" charset="-120"/>
              </a:rPr>
              <a:t>Reference panel + controls</a:t>
            </a:r>
            <a:endParaRPr lang="en-US" sz="1700" dirty="0"/>
          </a:p>
        </p:txBody>
      </p:sp>
      <p:sp>
        <p:nvSpPr>
          <p:cNvPr id="14" name="Shape 12"/>
          <p:cNvSpPr/>
          <p:nvPr/>
        </p:nvSpPr>
        <p:spPr>
          <a:xfrm>
            <a:off x="6492240" y="3246120"/>
            <a:ext cx="4937760" cy="2057400"/>
          </a:xfrm>
          <a:prstGeom prst="rect">
            <a:avLst/>
          </a:prstGeom>
          <a:solidFill>
            <a:srgbClr val="EEF3F7"/>
          </a:solidFill>
          <a:ln w="12700">
            <a:solidFill>
              <a:srgbClr val="BFD7E3"/>
            </a:solidFill>
            <a:prstDash val="solid"/>
          </a:ln>
        </p:spPr>
      </p:sp>
      <p:sp>
        <p:nvSpPr>
          <p:cNvPr id="15" name="Text 13"/>
          <p:cNvSpPr/>
          <p:nvPr/>
        </p:nvSpPr>
        <p:spPr>
          <a:xfrm>
            <a:off x="6903720" y="3977640"/>
            <a:ext cx="4114800" cy="457200"/>
          </a:xfrm>
          <a:prstGeom prst="rect">
            <a:avLst/>
          </a:prstGeom>
          <a:noFill/>
          <a:ln/>
        </p:spPr>
        <p:txBody>
          <a:bodyPr wrap="square" lIns="0" tIns="0" rIns="0" bIns="0" rtlCol="0" anchor="ctr"/>
          <a:lstStyle/>
          <a:p>
            <a:pPr algn="ctr" indent="0" marL="0">
              <a:buNone/>
            </a:pPr>
            <a:r>
              <a:rPr lang="en-US" sz="1700" b="1" dirty="0">
                <a:solidFill>
                  <a:srgbClr val="5D6B7A"/>
                </a:solidFill>
                <a:latin typeface="Calibri" pitchFamily="34" charset="0"/>
                <a:ea typeface="Calibri" pitchFamily="34" charset="-122"/>
                <a:cs typeface="Calibri" pitchFamily="34" charset="-120"/>
              </a:rPr>
              <a:t>Screenshot placeholder</a:t>
            </a:r>
            <a:endParaRPr lang="en-US" sz="1700" dirty="0"/>
          </a:p>
          <a:p>
            <a:pPr algn="ctr" indent="0" marL="0">
              <a:buNone/>
            </a:pPr>
            <a:r>
              <a:rPr lang="en-US" sz="1700" b="1" dirty="0">
                <a:solidFill>
                  <a:srgbClr val="5D6B7A"/>
                </a:solidFill>
                <a:latin typeface="Calibri" pitchFamily="34" charset="0"/>
                <a:ea typeface="Calibri" pitchFamily="34" charset="-122"/>
                <a:cs typeface="Calibri" pitchFamily="34" charset="-120"/>
              </a:rPr>
              <a:t>Live camera overlay</a:t>
            </a:r>
            <a:endParaRPr lang="en-US" sz="1700" dirty="0"/>
          </a:p>
        </p:txBody>
      </p:sp>
      <p:sp>
        <p:nvSpPr>
          <p:cNvPr id="16" name="Shape 14"/>
          <p:cNvSpPr/>
          <p:nvPr/>
        </p:nvSpPr>
        <p:spPr>
          <a:xfrm>
            <a:off x="530352" y="6291072"/>
            <a:ext cx="2194560" cy="347472"/>
          </a:xfrm>
          <a:prstGeom prst="roundRect">
            <a:avLst>
              <a:gd name="adj" fmla="val 15789"/>
            </a:avLst>
          </a:prstGeom>
          <a:solidFill>
            <a:srgbClr val="EAF7FC"/>
          </a:solidFill>
          <a:ln w="12700">
            <a:solidFill>
              <a:srgbClr val="EAF7FC"/>
            </a:solidFill>
            <a:prstDash val="solid"/>
          </a:ln>
        </p:spPr>
      </p:sp>
      <p:sp>
        <p:nvSpPr>
          <p:cNvPr id="17" name="Text 15"/>
          <p:cNvSpPr/>
          <p:nvPr/>
        </p:nvSpPr>
        <p:spPr>
          <a:xfrm>
            <a:off x="603504" y="6364224"/>
            <a:ext cx="2048256" cy="164592"/>
          </a:xfrm>
          <a:prstGeom prst="rect">
            <a:avLst/>
          </a:prstGeom>
          <a:noFill/>
          <a:ln/>
        </p:spPr>
        <p:txBody>
          <a:bodyPr wrap="square" lIns="0" tIns="0" rIns="0" bIns="0" rtlCol="0" anchor="ctr">
            <a:normAutofit/>
          </a:bodyPr>
          <a:lstStyle/>
          <a:p>
            <a:pPr algn="ctr" indent="0" marL="0">
              <a:buNone/>
            </a:pPr>
            <a:r>
              <a:rPr lang="en-US" sz="1000" b="1" dirty="0">
                <a:solidFill>
                  <a:srgbClr val="0D1B2A"/>
                </a:solidFill>
                <a:latin typeface="Calibri" pitchFamily="34" charset="0"/>
                <a:ea typeface="Calibri" pitchFamily="34" charset="-122"/>
                <a:cs typeface="Calibri" pitchFamily="34" charset="-120"/>
              </a:rPr>
              <a:t>key user journeys</a:t>
            </a:r>
            <a:endParaRPr lang="en-US" sz="1000" dirty="0"/>
          </a:p>
        </p:txBody>
      </p:sp>
      <p:sp>
        <p:nvSpPr>
          <p:cNvPr id="18" name="Text 16"/>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7A8792"/>
                </a:solidFill>
                <a:latin typeface="Calibri" pitchFamily="34" charset="0"/>
                <a:ea typeface="Calibri" pitchFamily="34" charset="-122"/>
                <a:cs typeface="Calibri" pitchFamily="34" charset="-120"/>
              </a:rPr>
              <a:t>Smart Hire AI Face Recognition | 13/14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955280" y="914400"/>
            <a:ext cx="2194560" cy="1920240"/>
          </a:xfrm>
          <a:prstGeom prst="roundRect">
            <a:avLst>
              <a:gd name="adj" fmla="val 3810"/>
            </a:avLst>
          </a:prstGeom>
          <a:solidFill>
            <a:srgbClr val="14334A"/>
          </a:solidFill>
          <a:ln w="25400">
            <a:solidFill>
              <a:srgbClr val="00C2FF"/>
            </a:solidFill>
            <a:prstDash val="solid"/>
          </a:ln>
        </p:spPr>
      </p:sp>
      <p:sp>
        <p:nvSpPr>
          <p:cNvPr id="3" name="Text 1"/>
          <p:cNvSpPr/>
          <p:nvPr/>
        </p:nvSpPr>
        <p:spPr>
          <a:xfrm>
            <a:off x="8366760" y="1325880"/>
            <a:ext cx="1371600" cy="73152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READY</a:t>
            </a:r>
            <a:endParaRPr lang="en-US" sz="1900" dirty="0"/>
          </a:p>
          <a:p>
            <a:pPr algn="ctr" indent="0" marL="0">
              <a:buNone/>
            </a:pPr>
            <a:r>
              <a:rPr lang="en-US" sz="1900" b="1" dirty="0">
                <a:solidFill>
                  <a:srgbClr val="FFFFFF"/>
                </a:solidFill>
                <a:latin typeface="Calibri" pitchFamily="34" charset="0"/>
                <a:ea typeface="Calibri" pitchFamily="34" charset="-122"/>
                <a:cs typeface="Calibri" pitchFamily="34" charset="-120"/>
              </a:rPr>
              <a:t>FOR</a:t>
            </a:r>
            <a:endParaRPr lang="en-US" sz="1900" dirty="0"/>
          </a:p>
          <a:p>
            <a:pPr algn="ctr" indent="0" marL="0">
              <a:buNone/>
            </a:pPr>
            <a:r>
              <a:rPr lang="en-US" sz="1900" b="1" dirty="0">
                <a:solidFill>
                  <a:srgbClr val="FFFFFF"/>
                </a:solidFill>
                <a:latin typeface="Calibri" pitchFamily="34" charset="0"/>
                <a:ea typeface="Calibri" pitchFamily="34" charset="-122"/>
                <a:cs typeface="Calibri" pitchFamily="34" charset="-120"/>
              </a:rPr>
              <a:t>REVIEW</a:t>
            </a:r>
            <a:endParaRPr lang="en-US" sz="1900" dirty="0"/>
          </a:p>
        </p:txBody>
      </p:sp>
      <p:sp>
        <p:nvSpPr>
          <p:cNvPr id="4" name="Text 2"/>
          <p:cNvSpPr/>
          <p:nvPr/>
        </p:nvSpPr>
        <p:spPr>
          <a:xfrm>
            <a:off x="685800" y="1051560"/>
            <a:ext cx="5029200" cy="4114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Conclusion</a:t>
            </a:r>
            <a:endParaRPr lang="en-US" sz="3800" dirty="0"/>
          </a:p>
        </p:txBody>
      </p:sp>
      <p:sp>
        <p:nvSpPr>
          <p:cNvPr id="5" name="Text 3"/>
          <p:cNvSpPr/>
          <p:nvPr/>
        </p:nvSpPr>
        <p:spPr>
          <a:xfrm>
            <a:off x="713232" y="1920240"/>
            <a:ext cx="6766560" cy="1280160"/>
          </a:xfrm>
          <a:prstGeom prst="rect">
            <a:avLst/>
          </a:prstGeom>
          <a:noFill/>
          <a:ln/>
        </p:spPr>
        <p:txBody>
          <a:bodyPr wrap="square" lIns="0" tIns="0" rIns="0" bIns="0" rtlCol="0" anchor="ctr">
            <a:normAutofit/>
          </a:bodyPr>
          <a:lstStyle/>
          <a:p>
            <a:pPr indent="0" marL="0">
              <a:buNone/>
            </a:pPr>
            <a:r>
              <a:rPr lang="en-US" sz="1800" dirty="0">
                <a:solidFill>
                  <a:srgbClr val="D7E8F2"/>
                </a:solidFill>
                <a:latin typeface="Calibri" pitchFamily="34" charset="0"/>
                <a:ea typeface="Calibri" pitchFamily="34" charset="-122"/>
                <a:cs typeface="Calibri" pitchFamily="34" charset="-120"/>
              </a:rPr>
              <a:t>The scanned project is a working local desktop face recognition app with BlazeFace detection, blink liveness, SFace embeddings, and cosine matching. The next architectural step is adding persistence, service APIs, and cloud sync if mobile attendance is required.</a:t>
            </a:r>
            <a:endParaRPr lang="en-US" sz="1800" dirty="0"/>
          </a:p>
        </p:txBody>
      </p:sp>
      <p:sp>
        <p:nvSpPr>
          <p:cNvPr id="6" name="Shape 4"/>
          <p:cNvSpPr/>
          <p:nvPr/>
        </p:nvSpPr>
        <p:spPr>
          <a:xfrm>
            <a:off x="777240" y="4251960"/>
            <a:ext cx="4572000" cy="1234440"/>
          </a:xfrm>
          <a:prstGeom prst="roundRect">
            <a:avLst>
              <a:gd name="adj" fmla="val 5926"/>
            </a:avLst>
          </a:prstGeom>
          <a:solidFill>
            <a:srgbClr val="14334A"/>
          </a:solidFill>
          <a:ln w="12700">
            <a:solidFill>
              <a:srgbClr val="BFD7E3">
                <a:alpha val="80000"/>
              </a:srgbClr>
            </a:solidFill>
            <a:prstDash val="solid"/>
          </a:ln>
        </p:spPr>
      </p:sp>
      <p:sp>
        <p:nvSpPr>
          <p:cNvPr id="7" name="Text 5"/>
          <p:cNvSpPr/>
          <p:nvPr/>
        </p:nvSpPr>
        <p:spPr>
          <a:xfrm>
            <a:off x="941832" y="4398264"/>
            <a:ext cx="4242816" cy="256032"/>
          </a:xfrm>
          <a:prstGeom prst="rect">
            <a:avLst/>
          </a:prstGeom>
          <a:noFill/>
          <a:ln/>
        </p:spPr>
        <p:txBody>
          <a:bodyPr wrap="square" lIns="0" tIns="0" rIns="0" bIns="0" rtlCol="0" anchor="ctr">
            <a:normAutofit/>
          </a:bodyPr>
          <a:lstStyle/>
          <a:p>
            <a:pPr indent="0" marL="0">
              <a:buNone/>
            </a:pPr>
            <a:r>
              <a:rPr lang="en-US" sz="1500" b="1" dirty="0">
                <a:solidFill>
                  <a:srgbClr val="0D1B2A"/>
                </a:solidFill>
                <a:latin typeface="Calibri" pitchFamily="34" charset="0"/>
                <a:ea typeface="Calibri" pitchFamily="34" charset="-122"/>
                <a:cs typeface="Calibri" pitchFamily="34" charset="-120"/>
              </a:rPr>
              <a:t>Submission files</a:t>
            </a:r>
            <a:endParaRPr lang="en-US" sz="1500" dirty="0"/>
          </a:p>
        </p:txBody>
      </p:sp>
      <p:sp>
        <p:nvSpPr>
          <p:cNvPr id="8" name="Text 6"/>
          <p:cNvSpPr/>
          <p:nvPr/>
        </p:nvSpPr>
        <p:spPr>
          <a:xfrm>
            <a:off x="941832" y="4727448"/>
            <a:ext cx="4242816" cy="640080"/>
          </a:xfrm>
          <a:prstGeom prst="rect">
            <a:avLst/>
          </a:prstGeom>
          <a:noFill/>
          <a:ln/>
        </p:spPr>
        <p:txBody>
          <a:bodyPr wrap="square" lIns="0" tIns="0" rIns="0" bIns="0" rtlCol="0" anchor="ctr">
            <a:normAutofit/>
          </a:bodyPr>
          <a:lstStyle/>
          <a:p>
            <a:pPr indent="0" marL="0">
              <a:buNone/>
            </a:pPr>
            <a:r>
              <a:rPr lang="en-US" sz="1200" dirty="0">
                <a:solidFill>
                  <a:srgbClr val="172033"/>
                </a:solidFill>
                <a:latin typeface="Calibri" pitchFamily="34" charset="0"/>
                <a:ea typeface="Calibri" pitchFamily="34" charset="-122"/>
                <a:cs typeface="Calibri" pitchFamily="34" charset="-120"/>
              </a:rPr>
              <a:t>technical_documentation.md</a:t>
            </a:r>
            <a:endParaRPr lang="en-US" sz="1200" dirty="0"/>
          </a:p>
          <a:p>
            <a:pPr indent="0" marL="0">
              <a:buNone/>
            </a:pPr>
            <a:r>
              <a:rPr lang="en-US" sz="1200" dirty="0">
                <a:solidFill>
                  <a:srgbClr val="172033"/>
                </a:solidFill>
                <a:latin typeface="Calibri" pitchFamily="34" charset="0"/>
                <a:ea typeface="Calibri" pitchFamily="34" charset="-122"/>
                <a:cs typeface="Calibri" pitchFamily="34" charset="-120"/>
              </a:rPr>
              <a:t>presentation.js</a:t>
            </a:r>
            <a:endParaRPr lang="en-US" sz="1200" dirty="0"/>
          </a:p>
          <a:p>
            <a:pPr indent="0" marL="0">
              <a:buNone/>
            </a:pPr>
            <a:r>
              <a:rPr lang="en-US" sz="1200" dirty="0">
                <a:solidFill>
                  <a:srgbClr val="172033"/>
                </a:solidFill>
                <a:latin typeface="Calibri" pitchFamily="34" charset="0"/>
                <a:ea typeface="Calibri" pitchFamily="34" charset="-122"/>
                <a:cs typeface="Calibri" pitchFamily="34" charset="-120"/>
              </a:rPr>
              <a:t>FaceAttendance_Submission.pptx</a:t>
            </a:r>
            <a:endParaRPr lang="en-US" sz="1200" dirty="0"/>
          </a:p>
        </p:txBody>
      </p:sp>
      <p:sp>
        <p:nvSpPr>
          <p:cNvPr id="9" name="Text 7"/>
          <p:cNvSpPr/>
          <p:nvPr/>
        </p:nvSpPr>
        <p:spPr>
          <a:xfrm>
            <a:off x="5897880" y="4480560"/>
            <a:ext cx="5120640" cy="502920"/>
          </a:xfrm>
          <a:prstGeom prst="rect">
            <a:avLst/>
          </a:prstGeom>
          <a:noFill/>
          <a:ln/>
        </p:spPr>
        <p:txBody>
          <a:bodyPr wrap="square" lIns="0" tIns="0" rIns="0" bIns="0" rtlCol="0" anchor="ctr">
            <a:normAutofit/>
          </a:bodyPr>
          <a:lstStyle/>
          <a:p>
            <a:pPr indent="0" marL="0">
              <a:buNone/>
            </a:pPr>
            <a:r>
              <a:rPr lang="en-US" sz="1500" b="1" dirty="0">
                <a:solidFill>
                  <a:srgbClr val="00C2FF"/>
                </a:solidFill>
                <a:latin typeface="Calibri" pitchFamily="34" charset="0"/>
                <a:ea typeface="Calibri" pitchFamily="34" charset="-122"/>
                <a:cs typeface="Calibri" pitchFamily="34" charset="-120"/>
              </a:rPr>
              <a:t>No React Native, SQLite, AWS SyncService, or MobileNetV2 files were found in the current codebase.</a:t>
            </a:r>
            <a:endParaRPr lang="en-US" sz="1500" dirty="0"/>
          </a:p>
        </p:txBody>
      </p:sp>
      <p:sp>
        <p:nvSpPr>
          <p:cNvPr id="10" name="Text 8"/>
          <p:cNvSpPr/>
          <p:nvPr/>
        </p:nvSpPr>
        <p:spPr>
          <a:xfrm>
            <a:off x="502920" y="6473952"/>
            <a:ext cx="11155680" cy="182880"/>
          </a:xfrm>
          <a:prstGeom prst="rect">
            <a:avLst/>
          </a:prstGeom>
          <a:noFill/>
          <a:ln/>
        </p:spPr>
        <p:txBody>
          <a:bodyPr wrap="square" lIns="0" tIns="0" rIns="0" bIns="0" rtlCol="0" anchor="ctr"/>
          <a:lstStyle/>
          <a:p>
            <a:pPr algn="r" indent="0" marL="0">
              <a:buNone/>
            </a:pPr>
            <a:r>
              <a:rPr lang="en-US" sz="800" dirty="0">
                <a:solidFill>
                  <a:srgbClr val="AFC4D4"/>
                </a:solidFill>
                <a:latin typeface="Calibri" pitchFamily="34" charset="0"/>
                <a:ea typeface="Calibri" pitchFamily="34" charset="-122"/>
                <a:cs typeface="Calibri" pitchFamily="34" charset="-120"/>
              </a:rPr>
              <a:t>Smart Hire AI Face Recognition | 14/14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Smart Hire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Recognition System</dc:title>
  <dc:subject>Face Recognition technical pitch deck</dc:subject>
  <dc:creator>Codex</dc:creator>
  <cp:lastModifiedBy>Codex</cp:lastModifiedBy>
  <cp:revision>1</cp:revision>
  <dcterms:created xsi:type="dcterms:W3CDTF">2026-05-27T18:18:45Z</dcterms:created>
  <dcterms:modified xsi:type="dcterms:W3CDTF">2026-05-27T18:18:45Z</dcterms:modified>
</cp:coreProperties>
</file>